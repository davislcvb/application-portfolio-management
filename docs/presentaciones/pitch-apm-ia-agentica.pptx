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e1454dda-11ee-d0c7-4d55-eb492ac939d3}">
          <p14:sldIdLst>
            <p14:sldId id="256"/>
          </p14:sldIdLst>
        </p14:section>
        <p14:section name="Problema" id="{34ac4e15-ea72-aa2e-485d-7f75a36e0537}">
          <p14:sldIdLst>
            <p14:sldId id="257"/>
            <p14:sldId id="258"/>
          </p14:sldIdLst>
        </p14:section>
        <p14:section name="Solución" id="{7414e097-7c16-7fcf-9405-ac677ce8b1c2}">
          <p14:sldIdLst>
            <p14:sldId id="259"/>
            <p14:sldId id="260"/>
          </p14:sldIdLst>
        </p14:section>
        <p14:section name="Valor" id="{d0a455af-5d81-19b4-64d8-987c495d0998}">
          <p14:sldIdLst>
            <p14:sldId id="261"/>
            <p14:sldId id="262"/>
          </p14:sldIdLst>
        </p14:section>
        <p14:section name="Cierre" id="{b27f8d77-b32d-acda-f165-b551c655c872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Buenos días. Les presento la idea de un sistema de gestión del portafolio de aplicaciones (APM) para el equipo de Arquitectura TI, impulsado por IA agéntica. Es un caso académico: no hay datos ni organizaciones reales. La idea central es que el catálogo deje de depender de la carga manual y se mantenga vivo con agentes que descubren y concilian evidencia, siempre con una persona aprobando. El grafo de la derecha representa el portafolio: código, contratos, datos, seguridad y personas conectados en un solo lugar.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Hoy el portafolio se gestiona con información dispersa: hojas de cálculo, la CMDB, los repositorios y los contratos o TDRs, cada uno por su lado. Mantener el catálogo exige cuestionarios largos que nadie quiere llenar, así que se desactualiza por fatiga y falta de incentivos. Consecuencia: no vemos qué aplicaciones tienen vulnerabilidades o tecnologías al final de su soporte, ni el impacto de un cambio, y aparece Shadow IT. El mensaje clave: el problema no es analizar el catálogo, es capturarlo y unificarlo.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estado actual como diagrama. A la izquierda, las cinco fuentes donde vive la verdad: hojas de cálculo, la CMDB, los repositorios con su CI/CD, los contratos y TDRs, y lo que saben las personas. Las líneas punteadas representan copias manuales: todo converge en una consolidación a mano, con correos, reuniones y cuestionarios. El equipo de Arquitectura se convierte en cuello de botella y el resultado es un catálogo desactualizado, sin trazabilidad y sin visibilidad de riesgo ni de impacto.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solución combina seis herramientas, todas centradas en capturar el dato. La principal es el pipeline multi-agente: cuatro agentes que descubren y concilian evidencia. Nuestro diferencial es la minería de contratos y TDRs: proveedor, vigencia, SLA y licencias, citados por cláusula. Todo se apoya en un metamodelo de Fact Sheets en ArchiMate 3.2; el catálogo se consulta vía API y un servidor MCP, más ligero que un chat propio, que queda como opción posterior. La gobernanza es humano en el bucle: la IA solo crea borradores y el arquitecto aprueba después de ver la evidencia. Usamos fuentes abiertas: SBOM en CycloneDX, endoflife.date para fin de soporte y NVD u OSV para vulnerabilidades, guardando la procedencia de cada atributo. La plataforma es portable: Azure es el objetivo empresarial, el MVP corre en la capa gratuita de Azure o GCP y el proveedor de IA es intercambiable entre Gemini, OpenAI, Claude o Azure OpenAI. ¿Por qué no comprar? LeanIX, ServiceNow o Ardoq son maduros y nos sirven de referencia de diseño, pero nuestro valor está en la captura de datos, y construimos sin costo de licencias.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Así funciona la solución de punta a punta. Las fuentes técnicas, contractuales y el catálogo existente alimentan a dos agentes de descubrimiento: Code-to-Catalog lee repositorios y despliegues; Dark Data Miner extrae datos de contratos y TDRs. El Reconciliador ancla esa evidencia en el catálogo existente, con relaciones N:M y un score de confianza. Si el score queda bajo el umbral o faltan datos, el agente Micro-Nudge hace una pregunta de un clic al dueño técnico; lo que no coincide con nada va a revisión humana como posible Shadow IT. Al final un arquitecto aprueba y se publica en el catálogo gobernado, sobre el que funcionan la consulta vía API y servidor MCP para personas y otros agentes, vulnerabilidades, obsolescencia y análisis de impacto. El chat queda como capacidad opcional posterior. Es una simplificación del diagrama ArchiMate del portal.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beneficios. Cuatro agentes especializados mantienen el catálogo actualizado con mínima intervención humana. El diseño exige que el 100 % de los cambios gobernados tenga un aprobador humano registrado. Las alertas de obsolescencia llegan con 6 a 12 meses de anticipación para planificar renovaciones. Y el costo de licencias es cero: construimos con fuentes abiertas; el costo de equipo y operación aún se debe estimar. Frente al mercado, nuestro diferencial es la minería de contratos y TDRs, que ninguna de las herramientas revisadas documenta, junto con la procedencia por atributo con cita a la línea de código o a la cláusula. Además, menos fricción gracias a preguntas de un clic. Aclaro que estas metas son propuestas y se ajustan en un piloto de calibración.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Seamos honestos con los retos. Primero, el score de confianza y su umbral aún no están calibrados: un piloto con un conjunto verificado de aplicaciones fija los umbrales antes de las fases 3 y 4. Segundo, la carga de revisión humana podría volverse el nuevo cuello de botella: proponemos un SLA de 5 días hábiles con escalamiento y medimos desde el inicio el tamaño y la antigüedad de la cola. Tercero, el sesgo de automatización: el botón Aprobar aparece solo después de la evidencia y el diff, y las propuestas de baja confianza no se aprueban en lote. Cuarto, los datos personales de autores y firmantes: se minimizan y se seudonimizan. Quinto, construir frente a productos maduros: usamos fuentes abiertas, tomamos a los incumbentes como referencia y acotamos el alcance con un MVP. Y si algo falla, existe un mecanismo de detención en tres niveles, hasta apagar la IA sin detener el APM.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cerrar: la propuesta es pasar de un catálogo manual que siempre llega tarde a un catálogo vivo, alimentado por agentes y gobernado por personas. La IA propone con evidencia y la persona dispone. Muchas gracias; quedo atento a sus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PM_OSCURO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PM_CONTENIDO">
    <p:bg>
      <p:bgPr>
        <a:solidFill>
          <a:srgbClr val="EE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59536"/>
            <a:ext cx="8229600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85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PROPUESTA · CASO ACADÉMICO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4526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Portafolio de aplicaciones gobernado por IA agéntica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Un APM que descubre, concilia y mantiene vivo el catálogo del equipo de Arquitectura TI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La IA propone, la persona dispone</a:t>
            </a:r>
            <a:endParaRPr lang="en-US" sz="1400" dirty="0"/>
          </a:p>
        </p:txBody>
      </p:sp>
      <p:sp>
        <p:nvSpPr>
          <p:cNvPr id="6" name="enlace del grafo"/>
          <p:cNvSpPr/>
          <p:nvPr/>
        </p:nvSpPr>
        <p:spPr>
          <a:xfrm flipH="1" flipV="1">
            <a:off x="5792226" y="1981962"/>
            <a:ext cx="1385814" cy="624078"/>
          </a:xfrm>
          <a:prstGeom prst="line">
            <a:avLst/>
          </a:prstGeom>
          <a:noFill/>
          <a:ln w="12700">
            <a:solidFill>
              <a:srgbClr val="9CC6CB"/>
            </a:solidFill>
            <a:prstDash val="solid"/>
          </a:ln>
        </p:spPr>
      </p:sp>
      <p:sp>
        <p:nvSpPr>
          <p:cNvPr id="7" name="enlace del grafo"/>
          <p:cNvSpPr/>
          <p:nvPr/>
        </p:nvSpPr>
        <p:spPr>
          <a:xfrm flipH="1" flipV="1">
            <a:off x="7042558" y="1398160"/>
            <a:ext cx="135482" cy="1207880"/>
          </a:xfrm>
          <a:prstGeom prst="line">
            <a:avLst/>
          </a:prstGeom>
          <a:noFill/>
          <a:ln w="12700">
            <a:solidFill>
              <a:srgbClr val="9CC6CB"/>
            </a:solidFill>
            <a:prstDash val="solid"/>
          </a:ln>
        </p:spPr>
      </p:sp>
      <p:sp>
        <p:nvSpPr>
          <p:cNvPr id="8" name="enlace del grafo"/>
          <p:cNvSpPr/>
          <p:nvPr/>
        </p:nvSpPr>
        <p:spPr>
          <a:xfrm flipV="1">
            <a:off x="7178040" y="1890127"/>
            <a:ext cx="1310807" cy="715913"/>
          </a:xfrm>
          <a:prstGeom prst="line">
            <a:avLst/>
          </a:prstGeom>
          <a:noFill/>
          <a:ln w="12700">
            <a:solidFill>
              <a:srgbClr val="9CC6CB"/>
            </a:solidFill>
            <a:prstDash val="solid"/>
          </a:ln>
        </p:spPr>
      </p:sp>
      <p:sp>
        <p:nvSpPr>
          <p:cNvPr id="9" name="enlace del grafo"/>
          <p:cNvSpPr/>
          <p:nvPr/>
        </p:nvSpPr>
        <p:spPr>
          <a:xfrm>
            <a:off x="7178040" y="2606040"/>
            <a:ext cx="1408837" cy="512422"/>
          </a:xfrm>
          <a:prstGeom prst="line">
            <a:avLst/>
          </a:prstGeom>
          <a:noFill/>
          <a:ln w="12700">
            <a:solidFill>
              <a:srgbClr val="9CC6CB"/>
            </a:solidFill>
            <a:prstDash val="solid"/>
          </a:ln>
        </p:spPr>
      </p:sp>
      <p:sp>
        <p:nvSpPr>
          <p:cNvPr id="10" name="enlace del grafo"/>
          <p:cNvSpPr/>
          <p:nvPr/>
        </p:nvSpPr>
        <p:spPr>
          <a:xfrm>
            <a:off x="7178040" y="2606040"/>
            <a:ext cx="914" cy="1141171"/>
          </a:xfrm>
          <a:prstGeom prst="line">
            <a:avLst/>
          </a:prstGeom>
          <a:noFill/>
          <a:ln w="12700">
            <a:solidFill>
              <a:srgbClr val="9CC6CB"/>
            </a:solidFill>
            <a:prstDash val="solid"/>
          </a:ln>
        </p:spPr>
      </p:sp>
      <p:sp>
        <p:nvSpPr>
          <p:cNvPr id="11" name="enlace del grafo"/>
          <p:cNvSpPr/>
          <p:nvPr/>
        </p:nvSpPr>
        <p:spPr>
          <a:xfrm flipH="1">
            <a:off x="5792226" y="2606040"/>
            <a:ext cx="1385814" cy="624078"/>
          </a:xfrm>
          <a:prstGeom prst="line">
            <a:avLst/>
          </a:prstGeom>
          <a:noFill/>
          <a:ln w="12700">
            <a:solidFill>
              <a:srgbClr val="9CC6CB"/>
            </a:solidFill>
            <a:prstDash val="solid"/>
          </a:ln>
        </p:spPr>
      </p:sp>
      <p:sp>
        <p:nvSpPr>
          <p:cNvPr id="12" name="nodo 1 círculo"/>
          <p:cNvSpPr/>
          <p:nvPr/>
        </p:nvSpPr>
        <p:spPr>
          <a:xfrm>
            <a:off x="5499618" y="1689354"/>
            <a:ext cx="585216" cy="585216"/>
          </a:xfrm>
          <a:prstGeom prst="ellipse">
            <a:avLst/>
          </a:prstGeom>
          <a:solidFill>
            <a:srgbClr val="127C86"/>
          </a:solidFill>
          <a:ln w="12700">
            <a:solidFill>
              <a:srgbClr val="127C86"/>
            </a:solidFill>
            <a:prstDash val="solid"/>
          </a:ln>
        </p:spPr>
      </p:sp>
      <p:pic>
        <p:nvPicPr>
          <p:cNvPr id="13" name="nodo 1 icono" descr="nodo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5922" y="1835658"/>
            <a:ext cx="292608" cy="292608"/>
          </a:xfrm>
          <a:prstGeom prst="rect">
            <a:avLst/>
          </a:prstGeom>
        </p:spPr>
      </p:pic>
      <p:sp>
        <p:nvSpPr>
          <p:cNvPr id="14" name="nodo 2 círculo"/>
          <p:cNvSpPr/>
          <p:nvPr/>
        </p:nvSpPr>
        <p:spPr>
          <a:xfrm>
            <a:off x="6749950" y="1105552"/>
            <a:ext cx="585216" cy="585216"/>
          </a:xfrm>
          <a:prstGeom prst="ellipse">
            <a:avLst/>
          </a:prstGeom>
          <a:solidFill>
            <a:srgbClr val="5F7480"/>
          </a:solidFill>
          <a:ln w="12700">
            <a:solidFill>
              <a:srgbClr val="5F7480"/>
            </a:solidFill>
            <a:prstDash val="solid"/>
          </a:ln>
        </p:spPr>
      </p:sp>
      <p:pic>
        <p:nvPicPr>
          <p:cNvPr id="15" name="nodo 2 icono" descr="nodo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254" y="1251856"/>
            <a:ext cx="292608" cy="292608"/>
          </a:xfrm>
          <a:prstGeom prst="rect">
            <a:avLst/>
          </a:prstGeom>
        </p:spPr>
      </p:pic>
      <p:sp>
        <p:nvSpPr>
          <p:cNvPr id="16" name="nodo 3 círculo"/>
          <p:cNvSpPr/>
          <p:nvPr/>
        </p:nvSpPr>
        <p:spPr>
          <a:xfrm>
            <a:off x="8196239" y="1597519"/>
            <a:ext cx="585216" cy="585216"/>
          </a:xfrm>
          <a:prstGeom prst="ellipse">
            <a:avLst/>
          </a:prstGeom>
          <a:solidFill>
            <a:srgbClr val="127C86"/>
          </a:solidFill>
          <a:ln w="12700">
            <a:solidFill>
              <a:srgbClr val="127C86"/>
            </a:solidFill>
            <a:prstDash val="solid"/>
          </a:ln>
        </p:spPr>
      </p:sp>
      <p:pic>
        <p:nvPicPr>
          <p:cNvPr id="17" name="nodo 3 icono" descr="nodo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2543" y="1743823"/>
            <a:ext cx="292608" cy="292608"/>
          </a:xfrm>
          <a:prstGeom prst="rect">
            <a:avLst/>
          </a:prstGeom>
        </p:spPr>
      </p:pic>
      <p:sp>
        <p:nvSpPr>
          <p:cNvPr id="18" name="nodo 4 círculo"/>
          <p:cNvSpPr/>
          <p:nvPr/>
        </p:nvSpPr>
        <p:spPr>
          <a:xfrm>
            <a:off x="8294269" y="2825854"/>
            <a:ext cx="585216" cy="585216"/>
          </a:xfrm>
          <a:prstGeom prst="ellipse">
            <a:avLst/>
          </a:prstGeom>
          <a:solidFill>
            <a:srgbClr val="3F8F6B"/>
          </a:solidFill>
          <a:ln w="12700">
            <a:solidFill>
              <a:srgbClr val="3F8F6B"/>
            </a:solidFill>
            <a:prstDash val="solid"/>
          </a:ln>
        </p:spPr>
      </p:sp>
      <p:pic>
        <p:nvPicPr>
          <p:cNvPr id="19" name="nodo 4 icono" descr="nodo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0573" y="2972158"/>
            <a:ext cx="292608" cy="292608"/>
          </a:xfrm>
          <a:prstGeom prst="rect">
            <a:avLst/>
          </a:prstGeom>
        </p:spPr>
      </p:pic>
      <p:sp>
        <p:nvSpPr>
          <p:cNvPr id="20" name="nodo 5 círculo"/>
          <p:cNvSpPr/>
          <p:nvPr/>
        </p:nvSpPr>
        <p:spPr>
          <a:xfrm>
            <a:off x="6885432" y="3454603"/>
            <a:ext cx="585216" cy="585216"/>
          </a:xfrm>
          <a:prstGeom prst="ellipse">
            <a:avLst/>
          </a:prstGeom>
          <a:solidFill>
            <a:srgbClr val="5F7480"/>
          </a:solidFill>
          <a:ln w="12700">
            <a:solidFill>
              <a:srgbClr val="5F7480"/>
            </a:solidFill>
            <a:prstDash val="solid"/>
          </a:ln>
        </p:spPr>
      </p:sp>
      <p:pic>
        <p:nvPicPr>
          <p:cNvPr id="21" name="nodo 5 icono" descr="nodo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1736" y="3600907"/>
            <a:ext cx="292608" cy="292608"/>
          </a:xfrm>
          <a:prstGeom prst="rect">
            <a:avLst/>
          </a:prstGeom>
        </p:spPr>
      </p:pic>
      <p:sp>
        <p:nvSpPr>
          <p:cNvPr id="22" name="nodo 6 círculo"/>
          <p:cNvSpPr/>
          <p:nvPr/>
        </p:nvSpPr>
        <p:spPr>
          <a:xfrm>
            <a:off x="5499618" y="2937510"/>
            <a:ext cx="585216" cy="585216"/>
          </a:xfrm>
          <a:prstGeom prst="ellipse">
            <a:avLst/>
          </a:prstGeom>
          <a:solidFill>
            <a:srgbClr val="127C86"/>
          </a:solidFill>
          <a:ln w="12700">
            <a:solidFill>
              <a:srgbClr val="127C86"/>
            </a:solidFill>
            <a:prstDash val="solid"/>
          </a:ln>
        </p:spPr>
      </p:sp>
      <p:pic>
        <p:nvPicPr>
          <p:cNvPr id="23" name="nodo 6 icono" descr="nodo 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5922" y="3083814"/>
            <a:ext cx="292608" cy="292608"/>
          </a:xfrm>
          <a:prstGeom prst="rect">
            <a:avLst/>
          </a:prstGeom>
        </p:spPr>
      </p:pic>
      <p:sp>
        <p:nvSpPr>
          <p:cNvPr id="24" name="halo"/>
          <p:cNvSpPr/>
          <p:nvPr/>
        </p:nvSpPr>
        <p:spPr>
          <a:xfrm>
            <a:off x="6464808" y="1892808"/>
            <a:ext cx="1426464" cy="1426464"/>
          </a:xfrm>
          <a:prstGeom prst="ellipse">
            <a:avLst/>
          </a:prstGeom>
          <a:solidFill>
            <a:srgbClr val="F2A900">
              <a:alpha val="25000"/>
            </a:srgbClr>
          </a:solidFill>
          <a:ln w="12700">
            <a:solidFill>
              <a:srgbClr val="F2A900">
                <a:alpha val="25000"/>
              </a:srgbClr>
            </a:solidFill>
            <a:prstDash val="solid"/>
          </a:ln>
        </p:spPr>
      </p:sp>
      <p:sp>
        <p:nvSpPr>
          <p:cNvPr id="25" name="nodo central círculo"/>
          <p:cNvSpPr/>
          <p:nvPr/>
        </p:nvSpPr>
        <p:spPr>
          <a:xfrm>
            <a:off x="6629400" y="2057400"/>
            <a:ext cx="1097280" cy="10972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26" name="nodo central icono" descr="nodo central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233172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actual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5953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catálogo manual no sigue el ritmo real del portafolio</a:t>
            </a:r>
            <a:endParaRPr lang="en-US" sz="1600" dirty="0"/>
          </a:p>
        </p:txBody>
      </p:sp>
      <p:sp>
        <p:nvSpPr>
          <p:cNvPr id="4" name="panel cita"/>
          <p:cNvSpPr/>
          <p:nvPr/>
        </p:nvSpPr>
        <p:spPr>
          <a:xfrm>
            <a:off x="457200" y="1417320"/>
            <a:ext cx="2743200" cy="324612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alerta círculo"/>
          <p:cNvSpPr/>
          <p:nvPr/>
        </p:nvSpPr>
        <p:spPr>
          <a:xfrm>
            <a:off x="731520" y="1691640"/>
            <a:ext cx="548640" cy="548640"/>
          </a:xfrm>
          <a:prstGeom prst="ellipse">
            <a:avLst/>
          </a:prstGeom>
          <a:solidFill>
            <a:srgbClr val="C4533A"/>
          </a:solidFill>
          <a:ln w="12700">
            <a:solidFill>
              <a:srgbClr val="C4533A"/>
            </a:solidFill>
            <a:prstDash val="solid"/>
          </a:ln>
        </p:spPr>
      </p:sp>
      <p:pic>
        <p:nvPicPr>
          <p:cNvPr id="6" name="alerta icono" descr="aler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288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37744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verdadero cuello de botella es la captura y unificación de los datos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7947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La IA tradicional actúa como «bombero downstream»: asume un catálogo limpio que no existe</a:t>
            </a:r>
            <a:endParaRPr lang="en-US" sz="1200" dirty="0"/>
          </a:p>
        </p:txBody>
      </p:sp>
      <p:sp>
        <p:nvSpPr>
          <p:cNvPr id="9" name="Inventario disperso círculo"/>
          <p:cNvSpPr/>
          <p:nvPr/>
        </p:nvSpPr>
        <p:spPr>
          <a:xfrm>
            <a:off x="3520440" y="1463040"/>
            <a:ext cx="457200" cy="457200"/>
          </a:xfrm>
          <a:prstGeom prst="ellipse">
            <a:avLst/>
          </a:prstGeom>
          <a:solidFill>
            <a:srgbClr val="C4533A"/>
          </a:solidFill>
          <a:ln w="12700">
            <a:solidFill>
              <a:srgbClr val="C4533A"/>
            </a:solidFill>
            <a:prstDash val="solid"/>
          </a:ln>
        </p:spPr>
      </p:sp>
      <p:pic>
        <p:nvPicPr>
          <p:cNvPr id="10" name="Inventario disperso icono" descr="Inventario dispers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740" y="157734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87368" y="141732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Inventario disperso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087368" y="1746504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Excel, CMDB, repositorios y contratos sin conexión entre sí</a:t>
            </a:r>
            <a:endParaRPr lang="en-US" sz="1200" dirty="0"/>
          </a:p>
        </p:txBody>
      </p:sp>
      <p:sp>
        <p:nvSpPr>
          <p:cNvPr id="13" name="Mantenimiento manual círculo"/>
          <p:cNvSpPr/>
          <p:nvPr/>
        </p:nvSpPr>
        <p:spPr>
          <a:xfrm>
            <a:off x="6172200" y="1463040"/>
            <a:ext cx="457200" cy="457200"/>
          </a:xfrm>
          <a:prstGeom prst="ellipse">
            <a:avLst/>
          </a:prstGeom>
          <a:solidFill>
            <a:srgbClr val="C4533A"/>
          </a:solidFill>
          <a:ln w="12700">
            <a:solidFill>
              <a:srgbClr val="C4533A"/>
            </a:solidFill>
            <a:prstDash val="solid"/>
          </a:ln>
        </p:spPr>
      </p:sp>
      <p:pic>
        <p:nvPicPr>
          <p:cNvPr id="14" name="Mantenimiento manual icono" descr="Mantenimiento manua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577340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739128" y="141732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Mantenimiento manual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6739128" y="1746504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Cuestionarios de decenas de campos generan resistencia y datos ficticios</a:t>
            </a:r>
            <a:endParaRPr lang="en-US" sz="1200" dirty="0"/>
          </a:p>
        </p:txBody>
      </p:sp>
      <p:sp>
        <p:nvSpPr>
          <p:cNvPr id="17" name="Catálogo desactualizado círculo"/>
          <p:cNvSpPr/>
          <p:nvPr/>
        </p:nvSpPr>
        <p:spPr>
          <a:xfrm>
            <a:off x="3520440" y="2578608"/>
            <a:ext cx="457200" cy="457200"/>
          </a:xfrm>
          <a:prstGeom prst="ellipse">
            <a:avLst/>
          </a:prstGeom>
          <a:solidFill>
            <a:srgbClr val="C4533A"/>
          </a:solidFill>
          <a:ln w="12700">
            <a:solidFill>
              <a:srgbClr val="C4533A"/>
            </a:solidFill>
            <a:prstDash val="solid"/>
          </a:ln>
        </p:spPr>
      </p:sp>
      <p:pic>
        <p:nvPicPr>
          <p:cNvPr id="18" name="Catálogo desactualizado icono" descr="Catálogo desactualizad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4740" y="2692908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087368" y="253288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Catálogo desactualizado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4087368" y="286207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Falla por fatiga burocrática y falta de incentivos</a:t>
            </a:r>
            <a:endParaRPr lang="en-US" sz="1200" dirty="0"/>
          </a:p>
        </p:txBody>
      </p:sp>
      <p:sp>
        <p:nvSpPr>
          <p:cNvPr id="21" name="Riesgo invisible círculo"/>
          <p:cNvSpPr/>
          <p:nvPr/>
        </p:nvSpPr>
        <p:spPr>
          <a:xfrm>
            <a:off x="6172200" y="2578608"/>
            <a:ext cx="457200" cy="457200"/>
          </a:xfrm>
          <a:prstGeom prst="ellipse">
            <a:avLst/>
          </a:prstGeom>
          <a:solidFill>
            <a:srgbClr val="C4533A"/>
          </a:solidFill>
          <a:ln w="12700">
            <a:solidFill>
              <a:srgbClr val="C4533A"/>
            </a:solidFill>
            <a:prstDash val="solid"/>
          </a:ln>
        </p:spPr>
      </p:sp>
      <p:pic>
        <p:nvPicPr>
          <p:cNvPr id="22" name="Riesgo invisible icono" descr="Riesgo invisib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2692908"/>
            <a:ext cx="228600" cy="22860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739128" y="253288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Riesgo invisible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6739128" y="286207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CVE y fin de soporte (EOL) sin correlación con las aplicaciones</a:t>
            </a:r>
            <a:endParaRPr lang="en-US" sz="1200" dirty="0"/>
          </a:p>
        </p:txBody>
      </p:sp>
      <p:sp>
        <p:nvSpPr>
          <p:cNvPr id="25" name="Impacto desconocido círculo"/>
          <p:cNvSpPr/>
          <p:nvPr/>
        </p:nvSpPr>
        <p:spPr>
          <a:xfrm>
            <a:off x="3520440" y="3694176"/>
            <a:ext cx="457200" cy="457200"/>
          </a:xfrm>
          <a:prstGeom prst="ellipse">
            <a:avLst/>
          </a:prstGeom>
          <a:solidFill>
            <a:srgbClr val="C4533A"/>
          </a:solidFill>
          <a:ln w="12700">
            <a:solidFill>
              <a:srgbClr val="C4533A"/>
            </a:solidFill>
            <a:prstDash val="solid"/>
          </a:ln>
        </p:spPr>
      </p:sp>
      <p:pic>
        <p:nvPicPr>
          <p:cNvPr id="26" name="Impacto desconocido icono" descr="Impacto desconocid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4740" y="3808476"/>
            <a:ext cx="228600" cy="22860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4087368" y="364845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Impacto desconocido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4087368" y="39776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 se sabe qué se afecta al cambiar o retirar un componente</a:t>
            </a:r>
            <a:endParaRPr lang="en-US" sz="1200" dirty="0"/>
          </a:p>
        </p:txBody>
      </p:sp>
      <p:sp>
        <p:nvSpPr>
          <p:cNvPr id="29" name="Shadow IT y dark data círculo"/>
          <p:cNvSpPr/>
          <p:nvPr/>
        </p:nvSpPr>
        <p:spPr>
          <a:xfrm>
            <a:off x="6172200" y="3694176"/>
            <a:ext cx="457200" cy="457200"/>
          </a:xfrm>
          <a:prstGeom prst="ellipse">
            <a:avLst/>
          </a:prstGeom>
          <a:solidFill>
            <a:srgbClr val="C4533A"/>
          </a:solidFill>
          <a:ln w="12700">
            <a:solidFill>
              <a:srgbClr val="C4533A"/>
            </a:solidFill>
            <a:prstDash val="solid"/>
          </a:ln>
        </p:spPr>
      </p:sp>
      <p:pic>
        <p:nvPicPr>
          <p:cNvPr id="30" name="Shadow IT y dark data icono" descr="Shadow IT y dark data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3808476"/>
            <a:ext cx="228600" cy="22860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6739128" y="364845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Shadow IT y dark data</a:t>
            </a:r>
            <a:endParaRPr lang="en-US" sz="1500" dirty="0"/>
          </a:p>
        </p:txBody>
      </p:sp>
      <p:sp>
        <p:nvSpPr>
          <p:cNvPr id="32" name="Text 23"/>
          <p:cNvSpPr txBox="1"/>
          <p:nvPr/>
        </p:nvSpPr>
        <p:spPr>
          <a:xfrm>
            <a:off x="6739128" y="39776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Sistemas y contratos fuera de la visibilidad formal de TI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problema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5953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fragmentadas que llegan al equipo por trabajo manual</a:t>
            </a:r>
            <a:endParaRPr lang="en-US" sz="1600" dirty="0"/>
          </a:p>
        </p:txBody>
      </p:sp>
      <p:sp>
        <p:nvSpPr>
          <p:cNvPr id="4" name="fuente 1"/>
          <p:cNvSpPr/>
          <p:nvPr/>
        </p:nvSpPr>
        <p:spPr>
          <a:xfrm>
            <a:off x="457200" y="1371600"/>
            <a:ext cx="2240280" cy="512064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B3C49">
                <a:alpha val="14000"/>
              </a:srgbClr>
            </a:outerShdw>
          </a:effectLst>
        </p:spPr>
      </p:sp>
      <p:sp>
        <p:nvSpPr>
          <p:cNvPr id="5" name="Hojas de cálculo (Excel) círculo"/>
          <p:cNvSpPr/>
          <p:nvPr/>
        </p:nvSpPr>
        <p:spPr>
          <a:xfrm>
            <a:off x="548640" y="1444752"/>
            <a:ext cx="365760" cy="365760"/>
          </a:xfrm>
          <a:prstGeom prst="ellipse">
            <a:avLst/>
          </a:prstGeom>
          <a:solidFill>
            <a:srgbClr val="5F7480"/>
          </a:solidFill>
          <a:ln w="12700">
            <a:solidFill>
              <a:srgbClr val="5F7480"/>
            </a:solidFill>
            <a:prstDash val="solid"/>
          </a:ln>
        </p:spPr>
      </p:sp>
      <p:pic>
        <p:nvPicPr>
          <p:cNvPr id="6" name="Hojas de cálculo (Excel) icono" descr="Hojas de cálculo (Excel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36192"/>
            <a:ext cx="182880" cy="1828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5840" y="137160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Hojas de cálculo (Excel)</a:t>
            </a:r>
            <a:endParaRPr lang="en-US" sz="1200" dirty="0"/>
          </a:p>
        </p:txBody>
      </p:sp>
      <p:sp>
        <p:nvSpPr>
          <p:cNvPr id="8" name="copia manual 1"/>
          <p:cNvSpPr/>
          <p:nvPr/>
        </p:nvSpPr>
        <p:spPr>
          <a:xfrm>
            <a:off x="2697480" y="1627632"/>
            <a:ext cx="731520" cy="1275588"/>
          </a:xfrm>
          <a:prstGeom prst="line">
            <a:avLst/>
          </a:prstGeom>
          <a:noFill/>
          <a:ln w="15875">
            <a:solidFill>
              <a:srgbClr val="C4533A"/>
            </a:solidFill>
            <a:prstDash val="dash"/>
            <a:tailEnd type="triangle"/>
          </a:ln>
        </p:spPr>
      </p:sp>
      <p:sp>
        <p:nvSpPr>
          <p:cNvPr id="9" name="fuente 2"/>
          <p:cNvSpPr/>
          <p:nvPr/>
        </p:nvSpPr>
        <p:spPr>
          <a:xfrm>
            <a:off x="457200" y="2011680"/>
            <a:ext cx="2240280" cy="512064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B3C49">
                <a:alpha val="14000"/>
              </a:srgbClr>
            </a:outerShdw>
          </a:effectLst>
        </p:spPr>
      </p:sp>
      <p:sp>
        <p:nvSpPr>
          <p:cNvPr id="10" name="CMDB de infraestructura círculo"/>
          <p:cNvSpPr/>
          <p:nvPr/>
        </p:nvSpPr>
        <p:spPr>
          <a:xfrm>
            <a:off x="548640" y="2084832"/>
            <a:ext cx="365760" cy="365760"/>
          </a:xfrm>
          <a:prstGeom prst="ellipse">
            <a:avLst/>
          </a:prstGeom>
          <a:solidFill>
            <a:srgbClr val="5F7480"/>
          </a:solidFill>
          <a:ln w="12700">
            <a:solidFill>
              <a:srgbClr val="5F7480"/>
            </a:solidFill>
            <a:prstDash val="solid"/>
          </a:ln>
        </p:spPr>
      </p:sp>
      <p:pic>
        <p:nvPicPr>
          <p:cNvPr id="11" name="CMDB de infraestructura icono" descr="CMDB de infraestructu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76272"/>
            <a:ext cx="182880" cy="1828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05840" y="201168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CMDB de infraestructura</a:t>
            </a:r>
            <a:endParaRPr lang="en-US" sz="1200" dirty="0"/>
          </a:p>
        </p:txBody>
      </p:sp>
      <p:sp>
        <p:nvSpPr>
          <p:cNvPr id="13" name="copia manual 2"/>
          <p:cNvSpPr/>
          <p:nvPr/>
        </p:nvSpPr>
        <p:spPr>
          <a:xfrm>
            <a:off x="2697480" y="2267712"/>
            <a:ext cx="731520" cy="635508"/>
          </a:xfrm>
          <a:prstGeom prst="line">
            <a:avLst/>
          </a:prstGeom>
          <a:noFill/>
          <a:ln w="15875">
            <a:solidFill>
              <a:srgbClr val="C4533A"/>
            </a:solidFill>
            <a:prstDash val="dash"/>
            <a:tailEnd type="triangle"/>
          </a:ln>
        </p:spPr>
      </p:sp>
      <p:sp>
        <p:nvSpPr>
          <p:cNvPr id="14" name="fuente 3"/>
          <p:cNvSpPr/>
          <p:nvPr/>
        </p:nvSpPr>
        <p:spPr>
          <a:xfrm>
            <a:off x="457200" y="2651760"/>
            <a:ext cx="2240280" cy="512064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B3C49">
                <a:alpha val="14000"/>
              </a:srgbClr>
            </a:outerShdw>
          </a:effectLst>
        </p:spPr>
      </p:sp>
      <p:sp>
        <p:nvSpPr>
          <p:cNvPr id="15" name="Repositorios y CI/CD círculo"/>
          <p:cNvSpPr/>
          <p:nvPr/>
        </p:nvSpPr>
        <p:spPr>
          <a:xfrm>
            <a:off x="548640" y="2724912"/>
            <a:ext cx="365760" cy="365760"/>
          </a:xfrm>
          <a:prstGeom prst="ellipse">
            <a:avLst/>
          </a:prstGeom>
          <a:solidFill>
            <a:srgbClr val="5F7480"/>
          </a:solidFill>
          <a:ln w="12700">
            <a:solidFill>
              <a:srgbClr val="5F7480"/>
            </a:solidFill>
            <a:prstDash val="solid"/>
          </a:ln>
        </p:spPr>
      </p:sp>
      <p:pic>
        <p:nvPicPr>
          <p:cNvPr id="16" name="Repositorios y CI/CD icono" descr="Repositorios y CI/C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816352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005840" y="265176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Repositorios y CI/CD</a:t>
            </a:r>
            <a:endParaRPr lang="en-US" sz="1200" dirty="0"/>
          </a:p>
        </p:txBody>
      </p:sp>
      <p:sp>
        <p:nvSpPr>
          <p:cNvPr id="18" name="copia manual 3"/>
          <p:cNvSpPr/>
          <p:nvPr/>
        </p:nvSpPr>
        <p:spPr>
          <a:xfrm flipV="1">
            <a:off x="2697480" y="2903220"/>
            <a:ext cx="731520" cy="4572"/>
          </a:xfrm>
          <a:prstGeom prst="line">
            <a:avLst/>
          </a:prstGeom>
          <a:noFill/>
          <a:ln w="15875">
            <a:solidFill>
              <a:srgbClr val="C4533A"/>
            </a:solidFill>
            <a:prstDash val="dash"/>
            <a:tailEnd type="triangle"/>
          </a:ln>
        </p:spPr>
      </p:sp>
      <p:sp>
        <p:nvSpPr>
          <p:cNvPr id="19" name="fuente 4"/>
          <p:cNvSpPr/>
          <p:nvPr/>
        </p:nvSpPr>
        <p:spPr>
          <a:xfrm>
            <a:off x="457200" y="3291840"/>
            <a:ext cx="2240280" cy="512064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B3C49">
                <a:alpha val="14000"/>
              </a:srgbClr>
            </a:outerShdw>
          </a:effectLst>
        </p:spPr>
      </p:sp>
      <p:sp>
        <p:nvSpPr>
          <p:cNvPr id="20" name="Contratos y TDRs círculo"/>
          <p:cNvSpPr/>
          <p:nvPr/>
        </p:nvSpPr>
        <p:spPr>
          <a:xfrm>
            <a:off x="548640" y="3364992"/>
            <a:ext cx="365760" cy="365760"/>
          </a:xfrm>
          <a:prstGeom prst="ellipse">
            <a:avLst/>
          </a:prstGeom>
          <a:solidFill>
            <a:srgbClr val="5F7480"/>
          </a:solidFill>
          <a:ln w="12700">
            <a:solidFill>
              <a:srgbClr val="5F7480"/>
            </a:solidFill>
            <a:prstDash val="solid"/>
          </a:ln>
        </p:spPr>
      </p:sp>
      <p:pic>
        <p:nvPicPr>
          <p:cNvPr id="21" name="Contratos y TDRs icono" descr="Contratos y TD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456432"/>
            <a:ext cx="182880" cy="1828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005840" y="329184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Contratos y TDRs</a:t>
            </a:r>
            <a:endParaRPr lang="en-US" sz="1200" dirty="0"/>
          </a:p>
        </p:txBody>
      </p:sp>
      <p:sp>
        <p:nvSpPr>
          <p:cNvPr id="23" name="copia manual 4"/>
          <p:cNvSpPr/>
          <p:nvPr/>
        </p:nvSpPr>
        <p:spPr>
          <a:xfrm flipV="1">
            <a:off x="2697480" y="2903220"/>
            <a:ext cx="731520" cy="644652"/>
          </a:xfrm>
          <a:prstGeom prst="line">
            <a:avLst/>
          </a:prstGeom>
          <a:noFill/>
          <a:ln w="15875">
            <a:solidFill>
              <a:srgbClr val="C4533A"/>
            </a:solidFill>
            <a:prstDash val="dash"/>
            <a:tailEnd type="triangle"/>
          </a:ln>
        </p:spPr>
      </p:sp>
      <p:sp>
        <p:nvSpPr>
          <p:cNvPr id="24" name="fuente 5"/>
          <p:cNvSpPr/>
          <p:nvPr/>
        </p:nvSpPr>
        <p:spPr>
          <a:xfrm>
            <a:off x="457200" y="3931920"/>
            <a:ext cx="2240280" cy="512064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B3C49">
                <a:alpha val="14000"/>
              </a:srgbClr>
            </a:outerShdw>
          </a:effectLst>
        </p:spPr>
      </p:sp>
      <p:sp>
        <p:nvSpPr>
          <p:cNvPr id="25" name="Conocimiento de personas círculo"/>
          <p:cNvSpPr/>
          <p:nvPr/>
        </p:nvSpPr>
        <p:spPr>
          <a:xfrm>
            <a:off x="548640" y="4005072"/>
            <a:ext cx="365760" cy="365760"/>
          </a:xfrm>
          <a:prstGeom prst="ellipse">
            <a:avLst/>
          </a:prstGeom>
          <a:solidFill>
            <a:srgbClr val="5F7480"/>
          </a:solidFill>
          <a:ln w="12700">
            <a:solidFill>
              <a:srgbClr val="5F7480"/>
            </a:solidFill>
            <a:prstDash val="solid"/>
          </a:ln>
        </p:spPr>
      </p:sp>
      <p:pic>
        <p:nvPicPr>
          <p:cNvPr id="26" name="Conocimiento de personas icono" descr="Conocimiento de persona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096512"/>
            <a:ext cx="182880" cy="18288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005840" y="393192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Conocimiento de personas</a:t>
            </a:r>
            <a:endParaRPr lang="en-US" sz="1200" dirty="0"/>
          </a:p>
        </p:txBody>
      </p:sp>
      <p:sp>
        <p:nvSpPr>
          <p:cNvPr id="28" name="copia manual 5"/>
          <p:cNvSpPr/>
          <p:nvPr/>
        </p:nvSpPr>
        <p:spPr>
          <a:xfrm flipV="1">
            <a:off x="2697480" y="2903220"/>
            <a:ext cx="731520" cy="1284732"/>
          </a:xfrm>
          <a:prstGeom prst="line">
            <a:avLst/>
          </a:prstGeom>
          <a:noFill/>
          <a:ln w="15875">
            <a:solidFill>
              <a:srgbClr val="C4533A"/>
            </a:solidFill>
            <a:prstDash val="dash"/>
            <a:tailEnd type="triangle"/>
          </a:ln>
        </p:spPr>
      </p:sp>
      <p:sp>
        <p:nvSpPr>
          <p:cNvPr id="29" name="consolidación manual"/>
          <p:cNvSpPr/>
          <p:nvPr/>
        </p:nvSpPr>
        <p:spPr>
          <a:xfrm>
            <a:off x="3429000" y="1783080"/>
            <a:ext cx="2148840" cy="2240280"/>
          </a:xfrm>
          <a:prstGeom prst="roundRect">
            <a:avLst>
              <a:gd name="adj" fmla="val 4255"/>
            </a:avLst>
          </a:prstGeom>
          <a:solidFill>
            <a:schemeClr val="accent4">
              <a:alpha val="15000"/>
            </a:schemeClr>
          </a:solidFill>
          <a:ln w="19050">
            <a:solidFill>
              <a:schemeClr val="accent4"/>
            </a:solidFill>
            <a:prstDash val="dash"/>
          </a:ln>
        </p:spPr>
      </p:sp>
      <p:sp>
        <p:nvSpPr>
          <p:cNvPr id="30" name="consolidación círculo"/>
          <p:cNvSpPr/>
          <p:nvPr/>
        </p:nvSpPr>
        <p:spPr>
          <a:xfrm>
            <a:off x="3611880" y="1965960"/>
            <a:ext cx="457200" cy="457200"/>
          </a:xfrm>
          <a:prstGeom prst="ellipse">
            <a:avLst/>
          </a:prstGeom>
          <a:solidFill>
            <a:srgbClr val="C4533A"/>
          </a:solidFill>
          <a:ln w="12700">
            <a:solidFill>
              <a:srgbClr val="C4533A"/>
            </a:solidFill>
            <a:prstDash val="solid"/>
          </a:ln>
        </p:spPr>
      </p:sp>
      <p:pic>
        <p:nvPicPr>
          <p:cNvPr id="31" name="consolidación icono" descr="consolidació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6180" y="2080260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4160520" y="19659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Consolidación manual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3611880" y="256032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Copiar y pegar entre planillas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Correos y reuniones de seguimiento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Cuestionarios largos a los equipos</a:t>
            </a:r>
            <a:endParaRPr lang="en-US" sz="1200" dirty="0"/>
          </a:p>
        </p:txBody>
      </p:sp>
      <p:sp>
        <p:nvSpPr>
          <p:cNvPr id="34" name="equipo arquitectura"/>
          <p:cNvSpPr/>
          <p:nvPr/>
        </p:nvSpPr>
        <p:spPr>
          <a:xfrm>
            <a:off x="6035040" y="1371600"/>
            <a:ext cx="265176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B3C49">
                <a:alpha val="14000"/>
              </a:srgbClr>
            </a:outerShdw>
          </a:effectLst>
        </p:spPr>
      </p:sp>
      <p:sp>
        <p:nvSpPr>
          <p:cNvPr id="35" name="equipo círculo"/>
          <p:cNvSpPr/>
          <p:nvPr/>
        </p:nvSpPr>
        <p:spPr>
          <a:xfrm>
            <a:off x="6217920" y="1600200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36" name="equipo icono" descr="equipo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1737360"/>
            <a:ext cx="274320" cy="27432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903720" y="13716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Equipo de Arquitectura TI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cuello de botella del registro</a:t>
            </a:r>
            <a:endParaRPr lang="en-US" sz="1400" dirty="0"/>
          </a:p>
        </p:txBody>
      </p:sp>
      <p:sp>
        <p:nvSpPr>
          <p:cNvPr id="38" name="hacia equipo"/>
          <p:cNvSpPr/>
          <p:nvPr/>
        </p:nvSpPr>
        <p:spPr>
          <a:xfrm flipV="1">
            <a:off x="5577840" y="1874520"/>
            <a:ext cx="457200" cy="1028700"/>
          </a:xfrm>
          <a:prstGeom prst="line">
            <a:avLst/>
          </a:prstGeom>
          <a:noFill/>
          <a:ln w="22225">
            <a:solidFill>
              <a:srgbClr val="C4533A"/>
            </a:solidFill>
            <a:prstDash val="solid"/>
            <a:tailEnd type="triangle"/>
          </a:ln>
        </p:spPr>
      </p:sp>
      <p:sp>
        <p:nvSpPr>
          <p:cNvPr id="39" name="hacia resultado"/>
          <p:cNvSpPr/>
          <p:nvPr/>
        </p:nvSpPr>
        <p:spPr>
          <a:xfrm>
            <a:off x="7360920" y="2377440"/>
            <a:ext cx="914" cy="457200"/>
          </a:xfrm>
          <a:prstGeom prst="line">
            <a:avLst/>
          </a:prstGeom>
          <a:noFill/>
          <a:ln w="22225">
            <a:solidFill>
              <a:srgbClr val="C4533A"/>
            </a:solidFill>
            <a:prstDash val="solid"/>
            <a:tailEnd type="triangle"/>
          </a:ln>
        </p:spPr>
      </p:sp>
      <p:sp>
        <p:nvSpPr>
          <p:cNvPr id="40" name="resultado"/>
          <p:cNvSpPr/>
          <p:nvPr/>
        </p:nvSpPr>
        <p:spPr>
          <a:xfrm>
            <a:off x="6035040" y="283464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0B3C49">
                <a:alpha val="14000"/>
              </a:srgbClr>
            </a:outerShdw>
          </a:effectLst>
        </p:spPr>
      </p:sp>
      <p:sp>
        <p:nvSpPr>
          <p:cNvPr id="41" name="Text 32"/>
          <p:cNvSpPr txBox="1"/>
          <p:nvPr/>
        </p:nvSpPr>
        <p:spPr>
          <a:xfrm>
            <a:off x="621792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Catálogo desactualizado</a:t>
            </a:r>
            <a:endParaRPr lang="en-US" sz="1400" dirty="0"/>
          </a:p>
        </p:txBody>
      </p:sp>
      <p:sp>
        <p:nvSpPr>
          <p:cNvPr id="42" name="Text 33"/>
          <p:cNvSpPr txBox="1"/>
          <p:nvPr/>
        </p:nvSpPr>
        <p:spPr>
          <a:xfrm>
            <a:off x="6217920" y="33375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Sin trazabilidad de cambios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CVE y EOL sin correlacionar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Impacto de cambios invisible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 la solución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5953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piezas que convierten datos dispersos en un catálogo gobernado</a:t>
            </a:r>
            <a:endParaRPr lang="en-US" sz="1600" dirty="0"/>
          </a:p>
        </p:txBody>
      </p:sp>
      <p:sp>
        <p:nvSpPr>
          <p:cNvPr id="4" name="tarjeta Pipeline de agentes"/>
          <p:cNvSpPr/>
          <p:nvPr/>
        </p:nvSpPr>
        <p:spPr>
          <a:xfrm>
            <a:off x="457200" y="1417320"/>
            <a:ext cx="2560320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B3C49">
                <a:alpha val="14000"/>
              </a:srgbClr>
            </a:outerShdw>
          </a:effectLst>
        </p:spPr>
      </p:sp>
      <p:sp>
        <p:nvSpPr>
          <p:cNvPr id="5" name="Pipeline de agentes círculo"/>
          <p:cNvSpPr/>
          <p:nvPr/>
        </p:nvSpPr>
        <p:spPr>
          <a:xfrm>
            <a:off x="640080" y="1563624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6" name="Pipeline de agentes icono" descr="Pipeline de agen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677924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07008" y="1563624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Pipeline de agentes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112264"/>
            <a:ext cx="22311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Cuatro agentes: Code-to-Catalog, Dark Data Miner, Reconciliador y Micro-Nudge</a:t>
            </a:r>
            <a:endParaRPr lang="en-US" sz="1100" dirty="0"/>
          </a:p>
        </p:txBody>
      </p:sp>
      <p:sp>
        <p:nvSpPr>
          <p:cNvPr id="9" name="tarjeta Minería de contratos"/>
          <p:cNvSpPr/>
          <p:nvPr/>
        </p:nvSpPr>
        <p:spPr>
          <a:xfrm>
            <a:off x="3291840" y="1417320"/>
            <a:ext cx="2560320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B3C49">
                <a:alpha val="14000"/>
              </a:srgbClr>
            </a:outerShdw>
          </a:effectLst>
        </p:spPr>
      </p:sp>
      <p:sp>
        <p:nvSpPr>
          <p:cNvPr id="10" name="Minería de contratos círculo"/>
          <p:cNvSpPr/>
          <p:nvPr/>
        </p:nvSpPr>
        <p:spPr>
          <a:xfrm>
            <a:off x="3474720" y="1563624"/>
            <a:ext cx="457200" cy="457200"/>
          </a:xfrm>
          <a:prstGeom prst="ellipse">
            <a:avLst/>
          </a:prstGeom>
          <a:solidFill>
            <a:srgbClr val="127C86"/>
          </a:solidFill>
          <a:ln w="12700">
            <a:solidFill>
              <a:srgbClr val="127C86"/>
            </a:solidFill>
            <a:prstDash val="solid"/>
          </a:ln>
        </p:spPr>
      </p:sp>
      <p:pic>
        <p:nvPicPr>
          <p:cNvPr id="11" name="Minería de contratos icono" descr="Minería de contrat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020" y="1677924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41648" y="1563624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Minería de contratos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2112264"/>
            <a:ext cx="22311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Proveedor, vigencia, SLA y licencias desde contratos y TDRs, citados por cláusula</a:t>
            </a:r>
            <a:endParaRPr lang="en-US" sz="1100" dirty="0"/>
          </a:p>
        </p:txBody>
      </p:sp>
      <p:sp>
        <p:nvSpPr>
          <p:cNvPr id="14" name="tarjeta Metamodelo ArchiMate"/>
          <p:cNvSpPr/>
          <p:nvPr/>
        </p:nvSpPr>
        <p:spPr>
          <a:xfrm>
            <a:off x="6126480" y="1417320"/>
            <a:ext cx="2560320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B3C49">
                <a:alpha val="14000"/>
              </a:srgbClr>
            </a:outerShdw>
          </a:effectLst>
        </p:spPr>
      </p:sp>
      <p:sp>
        <p:nvSpPr>
          <p:cNvPr id="15" name="Metamodelo ArchiMate círculo"/>
          <p:cNvSpPr/>
          <p:nvPr/>
        </p:nvSpPr>
        <p:spPr>
          <a:xfrm>
            <a:off x="6309360" y="1563624"/>
            <a:ext cx="457200" cy="457200"/>
          </a:xfrm>
          <a:prstGeom prst="ellipse">
            <a:avLst/>
          </a:prstGeom>
          <a:solidFill>
            <a:srgbClr val="127C86"/>
          </a:solidFill>
          <a:ln w="12700">
            <a:solidFill>
              <a:srgbClr val="127C86"/>
            </a:solidFill>
            <a:prstDash val="solid"/>
          </a:ln>
        </p:spPr>
      </p:sp>
      <p:pic>
        <p:nvPicPr>
          <p:cNvPr id="16" name="Metamodelo ArchiMate icono" descr="Metamodelo ArchiMa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1677924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876288" y="1563624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Metamodelo ArchiMate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309360" y="2112264"/>
            <a:ext cx="22311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Fact Sheets en ArchiMate 3.2; consulta vía API y MCP (chat opcional, después)</a:t>
            </a:r>
            <a:endParaRPr lang="en-US" sz="1100" dirty="0"/>
          </a:p>
        </p:txBody>
      </p:sp>
      <p:sp>
        <p:nvSpPr>
          <p:cNvPr id="19" name="tarjeta Humano en el bucle"/>
          <p:cNvSpPr/>
          <p:nvPr/>
        </p:nvSpPr>
        <p:spPr>
          <a:xfrm>
            <a:off x="457200" y="2953512"/>
            <a:ext cx="2560320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B3C49">
                <a:alpha val="14000"/>
              </a:srgbClr>
            </a:outerShdw>
          </a:effectLst>
        </p:spPr>
      </p:sp>
      <p:sp>
        <p:nvSpPr>
          <p:cNvPr id="20" name="Humano en el bucle círculo"/>
          <p:cNvSpPr/>
          <p:nvPr/>
        </p:nvSpPr>
        <p:spPr>
          <a:xfrm>
            <a:off x="640080" y="3099816"/>
            <a:ext cx="457200" cy="457200"/>
          </a:xfrm>
          <a:prstGeom prst="ellipse">
            <a:avLst/>
          </a:prstGeom>
          <a:solidFill>
            <a:srgbClr val="127C86"/>
          </a:solidFill>
          <a:ln w="12700">
            <a:solidFill>
              <a:srgbClr val="127C86"/>
            </a:solidFill>
            <a:prstDash val="solid"/>
          </a:ln>
        </p:spPr>
      </p:sp>
      <p:pic>
        <p:nvPicPr>
          <p:cNvPr id="21" name="Humano en el bucle icono" descr="Humano en el buc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214116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207008" y="3099816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Humano en el bucle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3648456"/>
            <a:ext cx="22311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La IA crea borradores; el arquitecto aprueba tras ver la evidencia</a:t>
            </a:r>
            <a:endParaRPr lang="en-US" sz="1100" dirty="0"/>
          </a:p>
        </p:txBody>
      </p:sp>
      <p:sp>
        <p:nvSpPr>
          <p:cNvPr id="24" name="tarjeta Fuentes abiertas"/>
          <p:cNvSpPr/>
          <p:nvPr/>
        </p:nvSpPr>
        <p:spPr>
          <a:xfrm>
            <a:off x="3291840" y="2953512"/>
            <a:ext cx="2560320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B3C49">
                <a:alpha val="14000"/>
              </a:srgbClr>
            </a:outerShdw>
          </a:effectLst>
        </p:spPr>
      </p:sp>
      <p:sp>
        <p:nvSpPr>
          <p:cNvPr id="25" name="Fuentes abiertas círculo"/>
          <p:cNvSpPr/>
          <p:nvPr/>
        </p:nvSpPr>
        <p:spPr>
          <a:xfrm>
            <a:off x="3474720" y="3099816"/>
            <a:ext cx="457200" cy="457200"/>
          </a:xfrm>
          <a:prstGeom prst="ellipse">
            <a:avLst/>
          </a:prstGeom>
          <a:solidFill>
            <a:srgbClr val="127C86"/>
          </a:solidFill>
          <a:ln w="12700">
            <a:solidFill>
              <a:srgbClr val="127C86"/>
            </a:solidFill>
            <a:prstDash val="solid"/>
          </a:ln>
        </p:spPr>
      </p:sp>
      <p:pic>
        <p:nvPicPr>
          <p:cNvPr id="26" name="Fuentes abiertas icono" descr="Fuentes abierta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9020" y="3214116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041648" y="3099816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Fuentes abiertas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3474720" y="3648456"/>
            <a:ext cx="22311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SBOM CycloneDX, endoflife.date y NVD/OSV, con procedencia por atributo</a:t>
            </a:r>
            <a:endParaRPr lang="en-US" sz="1100" dirty="0"/>
          </a:p>
        </p:txBody>
      </p:sp>
      <p:sp>
        <p:nvSpPr>
          <p:cNvPr id="29" name="tarjeta Plataforma portable"/>
          <p:cNvSpPr/>
          <p:nvPr/>
        </p:nvSpPr>
        <p:spPr>
          <a:xfrm>
            <a:off x="6126480" y="2953512"/>
            <a:ext cx="2560320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B3C49">
                <a:alpha val="14000"/>
              </a:srgbClr>
            </a:outerShdw>
          </a:effectLst>
        </p:spPr>
      </p:sp>
      <p:sp>
        <p:nvSpPr>
          <p:cNvPr id="30" name="Plataforma portable círculo"/>
          <p:cNvSpPr/>
          <p:nvPr/>
        </p:nvSpPr>
        <p:spPr>
          <a:xfrm>
            <a:off x="6309360" y="3099816"/>
            <a:ext cx="457200" cy="457200"/>
          </a:xfrm>
          <a:prstGeom prst="ellipse">
            <a:avLst/>
          </a:prstGeom>
          <a:solidFill>
            <a:srgbClr val="127C86"/>
          </a:solidFill>
          <a:ln w="12700">
            <a:solidFill>
              <a:srgbClr val="127C86"/>
            </a:solidFill>
            <a:prstDash val="solid"/>
          </a:ln>
        </p:spPr>
      </p:sp>
      <p:pic>
        <p:nvPicPr>
          <p:cNvPr id="31" name="Plataforma portable icono" descr="Plataforma portab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3660" y="3214116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876288" y="3099816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Plataforma portable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6309360" y="3648456"/>
            <a:ext cx="22311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Azure objetivo; MVP en capa gratuita (Azure/GCP); IA: Gemini, OpenAI, Claude o Azure OpenAI</a:t>
            </a:r>
            <a:endParaRPr lang="en-US" sz="1100" dirty="0"/>
          </a:p>
        </p:txBody>
      </p:sp>
      <p:sp>
        <p:nvSpPr>
          <p:cNvPr id="34" name="por qué no comprar"/>
          <p:cNvSpPr/>
          <p:nvPr/>
        </p:nvSpPr>
        <p:spPr>
          <a:xfrm>
            <a:off x="457200" y="4370832"/>
            <a:ext cx="8229600" cy="329184"/>
          </a:xfrm>
          <a:prstGeom prst="roundRect">
            <a:avLst>
              <a:gd name="adj" fmla="val 16667"/>
            </a:avLst>
          </a:prstGeom>
          <a:solidFill>
            <a:schemeClr val="accent2">
              <a:alpha val="20000"/>
            </a:schemeClr>
          </a:solidFill>
          <a:ln w="12700">
            <a:solidFill>
              <a:schemeClr val="accent2">
                <a:alpha val="20000"/>
              </a:schemeClr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594360" y="4370832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¿Por qué no comprar?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LeanIX, ServiceNow y Ardoq son referencia de diseño; nuestro valor está en la captura de datos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la solución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5953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dato crudo al Fact Sheet aprobado, con evidencia en cada paso</a:t>
            </a:r>
            <a:endParaRPr lang="en-US" sz="1600" dirty="0"/>
          </a:p>
        </p:txBody>
      </p:sp>
      <p:sp>
        <p:nvSpPr>
          <p:cNvPr id="4" name="etapa Fuentes"/>
          <p:cNvSpPr/>
          <p:nvPr/>
        </p:nvSpPr>
        <p:spPr>
          <a:xfrm>
            <a:off x="457200" y="1417320"/>
            <a:ext cx="1463040" cy="182880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B3C49">
                <a:alpha val="14000"/>
              </a:srgbClr>
            </a:outerShdw>
          </a:effectLst>
        </p:spPr>
      </p:sp>
      <p:sp>
        <p:nvSpPr>
          <p:cNvPr id="5" name="Fuentes círculo"/>
          <p:cNvSpPr/>
          <p:nvPr/>
        </p:nvSpPr>
        <p:spPr>
          <a:xfrm>
            <a:off x="914400" y="1554480"/>
            <a:ext cx="548640" cy="548640"/>
          </a:xfrm>
          <a:prstGeom prst="ellipse">
            <a:avLst/>
          </a:prstGeom>
          <a:solidFill>
            <a:srgbClr val="5F7480"/>
          </a:solidFill>
          <a:ln w="12700">
            <a:solidFill>
              <a:srgbClr val="5F7480"/>
            </a:solidFill>
            <a:prstDash val="solid"/>
          </a:ln>
        </p:spPr>
      </p:sp>
      <p:pic>
        <p:nvPicPr>
          <p:cNvPr id="6" name="Fuentes icono" descr="Fuen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6916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30352" y="2167128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Fuentes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4688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Git · CI/CD · K8s, contratos y TDRs, Excel y CMDB</a:t>
            </a:r>
            <a:endParaRPr lang="en-US" sz="1050" dirty="0"/>
          </a:p>
        </p:txBody>
      </p:sp>
      <p:sp>
        <p:nvSpPr>
          <p:cNvPr id="9" name="flujo 1"/>
          <p:cNvSpPr/>
          <p:nvPr/>
        </p:nvSpPr>
        <p:spPr>
          <a:xfrm>
            <a:off x="1938528" y="1828800"/>
            <a:ext cx="192024" cy="914"/>
          </a:xfrm>
          <a:prstGeom prst="line">
            <a:avLst/>
          </a:prstGeom>
          <a:noFill/>
          <a:ln w="25400">
            <a:solidFill>
              <a:srgbClr val="127C86"/>
            </a:solidFill>
            <a:prstDash val="solid"/>
            <a:tailEnd type="triangle"/>
          </a:ln>
        </p:spPr>
      </p:sp>
      <p:sp>
        <p:nvSpPr>
          <p:cNvPr id="10" name="etapa Descubrimiento"/>
          <p:cNvSpPr/>
          <p:nvPr/>
        </p:nvSpPr>
        <p:spPr>
          <a:xfrm>
            <a:off x="2148840" y="1417320"/>
            <a:ext cx="1463040" cy="182880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B3C49">
                <a:alpha val="14000"/>
              </a:srgbClr>
            </a:outerShdw>
          </a:effectLst>
        </p:spPr>
      </p:sp>
      <p:sp>
        <p:nvSpPr>
          <p:cNvPr id="11" name="Descubrimiento círculo"/>
          <p:cNvSpPr/>
          <p:nvPr/>
        </p:nvSpPr>
        <p:spPr>
          <a:xfrm>
            <a:off x="2606040" y="1554480"/>
            <a:ext cx="548640" cy="548640"/>
          </a:xfrm>
          <a:prstGeom prst="ellipse">
            <a:avLst/>
          </a:prstGeom>
          <a:solidFill>
            <a:srgbClr val="127C86"/>
          </a:solidFill>
          <a:ln w="12700">
            <a:solidFill>
              <a:srgbClr val="127C86"/>
            </a:solidFill>
            <a:prstDash val="solid"/>
          </a:ln>
        </p:spPr>
      </p:sp>
      <p:pic>
        <p:nvPicPr>
          <p:cNvPr id="12" name="Descubrimiento icono" descr="Descubrimien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69164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221992" y="2167128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Descubrimiento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2240280" y="24688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Agente 1 Code-to-Catalog y Agente 2 Dark Data Miner</a:t>
            </a:r>
            <a:endParaRPr lang="en-US" sz="1050" dirty="0"/>
          </a:p>
        </p:txBody>
      </p:sp>
      <p:sp>
        <p:nvSpPr>
          <p:cNvPr id="15" name="flujo 2"/>
          <p:cNvSpPr/>
          <p:nvPr/>
        </p:nvSpPr>
        <p:spPr>
          <a:xfrm>
            <a:off x="3630168" y="1828800"/>
            <a:ext cx="192024" cy="914"/>
          </a:xfrm>
          <a:prstGeom prst="line">
            <a:avLst/>
          </a:prstGeom>
          <a:noFill/>
          <a:ln w="25400">
            <a:solidFill>
              <a:srgbClr val="127C86"/>
            </a:solidFill>
            <a:prstDash val="solid"/>
            <a:tailEnd type="triangle"/>
          </a:ln>
        </p:spPr>
      </p:sp>
      <p:sp>
        <p:nvSpPr>
          <p:cNvPr id="16" name="etapa Reconciliación"/>
          <p:cNvSpPr/>
          <p:nvPr/>
        </p:nvSpPr>
        <p:spPr>
          <a:xfrm>
            <a:off x="3840480" y="1417320"/>
            <a:ext cx="1463040" cy="182880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B3C49">
                <a:alpha val="14000"/>
              </a:srgbClr>
            </a:outerShdw>
          </a:effectLst>
        </p:spPr>
      </p:sp>
      <p:sp>
        <p:nvSpPr>
          <p:cNvPr id="17" name="Reconciliación círculo"/>
          <p:cNvSpPr/>
          <p:nvPr/>
        </p:nvSpPr>
        <p:spPr>
          <a:xfrm>
            <a:off x="4297680" y="1554480"/>
            <a:ext cx="548640" cy="548640"/>
          </a:xfrm>
          <a:prstGeom prst="ellipse">
            <a:avLst/>
          </a:prstGeom>
          <a:solidFill>
            <a:srgbClr val="127C86"/>
          </a:solidFill>
          <a:ln w="12700">
            <a:solidFill>
              <a:srgbClr val="127C86"/>
            </a:solidFill>
            <a:prstDash val="solid"/>
          </a:ln>
        </p:spPr>
      </p:sp>
      <p:pic>
        <p:nvPicPr>
          <p:cNvPr id="18" name="Reconciliación icono" descr="Reconciliació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69164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913632" y="2167128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Reconciliación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3931920" y="24688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Agente 3 vincula evidencia N:M con score de confianza</a:t>
            </a:r>
            <a:endParaRPr lang="en-US" sz="1050" dirty="0"/>
          </a:p>
        </p:txBody>
      </p:sp>
      <p:sp>
        <p:nvSpPr>
          <p:cNvPr id="21" name="flujo 3"/>
          <p:cNvSpPr/>
          <p:nvPr/>
        </p:nvSpPr>
        <p:spPr>
          <a:xfrm>
            <a:off x="5321808" y="1828800"/>
            <a:ext cx="192024" cy="914"/>
          </a:xfrm>
          <a:prstGeom prst="line">
            <a:avLst/>
          </a:prstGeom>
          <a:noFill/>
          <a:ln w="25400">
            <a:solidFill>
              <a:srgbClr val="127C86"/>
            </a:solidFill>
            <a:prstDash val="solid"/>
            <a:tailEnd type="triangle"/>
          </a:ln>
        </p:spPr>
      </p:sp>
      <p:sp>
        <p:nvSpPr>
          <p:cNvPr id="22" name="etapa Validación"/>
          <p:cNvSpPr/>
          <p:nvPr/>
        </p:nvSpPr>
        <p:spPr>
          <a:xfrm>
            <a:off x="5532120" y="1417320"/>
            <a:ext cx="1463040" cy="182880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B3C49">
                <a:alpha val="14000"/>
              </a:srgbClr>
            </a:outerShdw>
          </a:effectLst>
        </p:spPr>
      </p:sp>
      <p:sp>
        <p:nvSpPr>
          <p:cNvPr id="23" name="Validación círculo"/>
          <p:cNvSpPr/>
          <p:nvPr/>
        </p:nvSpPr>
        <p:spPr>
          <a:xfrm>
            <a:off x="5989320" y="1554480"/>
            <a:ext cx="548640" cy="548640"/>
          </a:xfrm>
          <a:prstGeom prst="ellipse">
            <a:avLst/>
          </a:prstGeom>
          <a:solidFill>
            <a:srgbClr val="127C86"/>
          </a:solidFill>
          <a:ln w="12700">
            <a:solidFill>
              <a:srgbClr val="127C86"/>
            </a:solidFill>
            <a:prstDash val="solid"/>
          </a:ln>
        </p:spPr>
      </p:sp>
      <p:pic>
        <p:nvPicPr>
          <p:cNvPr id="24" name="Validación icono" descr="Validació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69164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605272" y="2167128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Validación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5623560" y="24688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Agente 4: micro-nudge de 1 clic; huérfanos a revisión</a:t>
            </a:r>
            <a:endParaRPr lang="en-US" sz="1050" dirty="0"/>
          </a:p>
        </p:txBody>
      </p:sp>
      <p:sp>
        <p:nvSpPr>
          <p:cNvPr id="27" name="flujo 4"/>
          <p:cNvSpPr/>
          <p:nvPr/>
        </p:nvSpPr>
        <p:spPr>
          <a:xfrm>
            <a:off x="7013448" y="1828800"/>
            <a:ext cx="192024" cy="914"/>
          </a:xfrm>
          <a:prstGeom prst="line">
            <a:avLst/>
          </a:prstGeom>
          <a:noFill/>
          <a:ln w="25400">
            <a:solidFill>
              <a:srgbClr val="127C86"/>
            </a:solidFill>
            <a:prstDash val="solid"/>
            <a:tailEnd type="triangle"/>
          </a:ln>
        </p:spPr>
      </p:sp>
      <p:sp>
        <p:nvSpPr>
          <p:cNvPr id="28" name="etapa Aprobación"/>
          <p:cNvSpPr/>
          <p:nvPr/>
        </p:nvSpPr>
        <p:spPr>
          <a:xfrm>
            <a:off x="7223760" y="1417320"/>
            <a:ext cx="1463040" cy="182880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B3C49">
                <a:alpha val="14000"/>
              </a:srgbClr>
            </a:outerShdw>
          </a:effectLst>
        </p:spPr>
      </p:sp>
      <p:sp>
        <p:nvSpPr>
          <p:cNvPr id="29" name="Aprobación círculo"/>
          <p:cNvSpPr/>
          <p:nvPr/>
        </p:nvSpPr>
        <p:spPr>
          <a:xfrm>
            <a:off x="7680960" y="1554480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30" name="Aprobación icono" descr="Aprobació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1691640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296912" y="2167128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Aprobación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7315200" y="24688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Arquitecto TI o Gobierno aprueba y publica</a:t>
            </a:r>
            <a:endParaRPr lang="en-US" sz="1050" dirty="0"/>
          </a:p>
        </p:txBody>
      </p:sp>
      <p:sp>
        <p:nvSpPr>
          <p:cNvPr id="33" name="publica"/>
          <p:cNvSpPr/>
          <p:nvPr/>
        </p:nvSpPr>
        <p:spPr>
          <a:xfrm>
            <a:off x="7955280" y="3246120"/>
            <a:ext cx="914" cy="365760"/>
          </a:xfrm>
          <a:prstGeom prst="line">
            <a:avLst/>
          </a:prstGeom>
          <a:noFill/>
          <a:ln w="25400">
            <a:solidFill>
              <a:srgbClr val="F2A900"/>
            </a:solidFill>
            <a:prstDash val="solid"/>
            <a:tailEnd type="triangle"/>
          </a:ln>
        </p:spPr>
      </p:sp>
      <p:sp>
        <p:nvSpPr>
          <p:cNvPr id="34" name="catálogo APM"/>
          <p:cNvSpPr/>
          <p:nvPr/>
        </p:nvSpPr>
        <p:spPr>
          <a:xfrm>
            <a:off x="457200" y="3611880"/>
            <a:ext cx="8229600" cy="960120"/>
          </a:xfrm>
          <a:prstGeom prst="roundRect">
            <a:avLst>
              <a:gd name="adj" fmla="val 952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5" name="catálogo círculo"/>
          <p:cNvSpPr/>
          <p:nvPr/>
        </p:nvSpPr>
        <p:spPr>
          <a:xfrm>
            <a:off x="640080" y="3813048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36" name="catálogo icono" descr="catálog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950208"/>
            <a:ext cx="274320" cy="27432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325880" y="361188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Catálogo APM gobernado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API única para personas y agentes</a:t>
            </a:r>
            <a:endParaRPr lang="en-US" sz="1400" dirty="0"/>
          </a:p>
        </p:txBody>
      </p:sp>
      <p:sp>
        <p:nvSpPr>
          <p:cNvPr id="38" name="capacidad Consulta API/MCP"/>
          <p:cNvSpPr/>
          <p:nvPr/>
        </p:nvSpPr>
        <p:spPr>
          <a:xfrm>
            <a:off x="3474720" y="3739896"/>
            <a:ext cx="1188720" cy="704088"/>
          </a:xfrm>
          <a:prstGeom prst="roundRect">
            <a:avLst>
              <a:gd name="adj" fmla="val 1039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9" name="icono Consulta API/MCP" descr="Consulta API/MCP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0208" y="3813048"/>
            <a:ext cx="237744" cy="237744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3511296" y="4087368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Consulta API/MCP</a:t>
            </a:r>
            <a:endParaRPr lang="en-US" sz="1000" dirty="0"/>
          </a:p>
        </p:txBody>
      </p:sp>
      <p:sp>
        <p:nvSpPr>
          <p:cNvPr id="41" name="capacidad Vulnerabilidades"/>
          <p:cNvSpPr/>
          <p:nvPr/>
        </p:nvSpPr>
        <p:spPr>
          <a:xfrm>
            <a:off x="4754880" y="3739896"/>
            <a:ext cx="1188720" cy="704088"/>
          </a:xfrm>
          <a:prstGeom prst="roundRect">
            <a:avLst>
              <a:gd name="adj" fmla="val 1039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2" name="icono Vulnerabilidades" descr="Vulnerabilidade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0368" y="3813048"/>
            <a:ext cx="237744" cy="237744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4791456" y="4087368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Vulnerabilidades</a:t>
            </a:r>
            <a:endParaRPr lang="en-US" sz="1000" dirty="0"/>
          </a:p>
        </p:txBody>
      </p:sp>
      <p:sp>
        <p:nvSpPr>
          <p:cNvPr id="44" name="capacidad Obsolescencia"/>
          <p:cNvSpPr/>
          <p:nvPr/>
        </p:nvSpPr>
        <p:spPr>
          <a:xfrm>
            <a:off x="6035040" y="3739896"/>
            <a:ext cx="1188720" cy="704088"/>
          </a:xfrm>
          <a:prstGeom prst="roundRect">
            <a:avLst>
              <a:gd name="adj" fmla="val 1039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5" name="icono Obsolescencia" descr="Obsolescencia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0528" y="3813048"/>
            <a:ext cx="237744" cy="237744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6071616" y="4087368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Obsolescencia</a:t>
            </a:r>
            <a:endParaRPr lang="en-US" sz="1000" dirty="0"/>
          </a:p>
        </p:txBody>
      </p:sp>
      <p:sp>
        <p:nvSpPr>
          <p:cNvPr id="47" name="capacidad Análisis de impacto"/>
          <p:cNvSpPr/>
          <p:nvPr/>
        </p:nvSpPr>
        <p:spPr>
          <a:xfrm>
            <a:off x="7315200" y="3739896"/>
            <a:ext cx="1188720" cy="704088"/>
          </a:xfrm>
          <a:prstGeom prst="roundRect">
            <a:avLst>
              <a:gd name="adj" fmla="val 1039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8" name="icono Análisis de impacto" descr="Análisis de impacto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90688" y="3813048"/>
            <a:ext cx="237744" cy="237744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7351776" y="4087368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Análisis de impacto</a:t>
            </a:r>
            <a:endParaRPr lang="en-US" sz="1000" dirty="0"/>
          </a:p>
        </p:txBody>
      </p:sp>
      <p:sp>
        <p:nvSpPr>
          <p:cNvPr id="50" name="Text 38"/>
          <p:cNvSpPr txBox="1"/>
          <p:nvPr/>
        </p:nvSpPr>
        <p:spPr>
          <a:xfrm>
            <a:off x="457200" y="4690872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3"/>
                </a:solidFill>
              </a:rPr>
              <a:t>Simplificación del pipeline ArchiMate «ia-descubrimiento» y de la vista de solución publicadas en el portal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5953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catálogo vivo, confiable y trazable para decidir con evidencia</a:t>
            </a:r>
            <a:endParaRPr lang="en-US" sz="1600" dirty="0"/>
          </a:p>
        </p:txBody>
      </p:sp>
      <p:sp>
        <p:nvSpPr>
          <p:cNvPr id="4" name="dato 1"/>
          <p:cNvSpPr/>
          <p:nvPr/>
        </p:nvSpPr>
        <p:spPr>
          <a:xfrm>
            <a:off x="457200" y="1417320"/>
            <a:ext cx="1883664" cy="1691640"/>
          </a:xfrm>
          <a:prstGeom prst="roundRect">
            <a:avLst>
              <a:gd name="adj" fmla="val 540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B3C49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508760"/>
            <a:ext cx="1609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286000"/>
            <a:ext cx="1609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agentes mantienen el catálogo con mínima intervención humana</a:t>
            </a:r>
            <a:endParaRPr lang="en-US" sz="1200" dirty="0"/>
          </a:p>
        </p:txBody>
      </p:sp>
      <p:sp>
        <p:nvSpPr>
          <p:cNvPr id="7" name="dato 2"/>
          <p:cNvSpPr/>
          <p:nvPr/>
        </p:nvSpPr>
        <p:spPr>
          <a:xfrm>
            <a:off x="2569464" y="1417320"/>
            <a:ext cx="1883664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B3C49">
                <a:alpha val="14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706624" y="1508760"/>
            <a:ext cx="1609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2706624" y="2286000"/>
            <a:ext cx="1609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 cambios gobernados con aprobador humano registrado</a:t>
            </a:r>
            <a:endParaRPr lang="en-US" sz="1200" dirty="0"/>
          </a:p>
        </p:txBody>
      </p:sp>
      <p:sp>
        <p:nvSpPr>
          <p:cNvPr id="10" name="dato 3"/>
          <p:cNvSpPr/>
          <p:nvPr/>
        </p:nvSpPr>
        <p:spPr>
          <a:xfrm>
            <a:off x="4681728" y="1417320"/>
            <a:ext cx="1883664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B3C49">
                <a:alpha val="14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818888" y="1508760"/>
            <a:ext cx="1609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4818888" y="2286000"/>
            <a:ext cx="1609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meses de anticipación en alertas de obsolescencia</a:t>
            </a:r>
            <a:endParaRPr lang="en-US" sz="1200" dirty="0"/>
          </a:p>
        </p:txBody>
      </p:sp>
      <p:sp>
        <p:nvSpPr>
          <p:cNvPr id="13" name="dato 4"/>
          <p:cNvSpPr/>
          <p:nvPr/>
        </p:nvSpPr>
        <p:spPr>
          <a:xfrm>
            <a:off x="6793992" y="1417320"/>
            <a:ext cx="1883664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B3C49">
                <a:alpha val="14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931152" y="1508760"/>
            <a:ext cx="1609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6931152" y="2286000"/>
            <a:ext cx="1609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en licencias: construcción con fuentes abiertas</a:t>
            </a:r>
            <a:endParaRPr lang="en-US" sz="1200" dirty="0"/>
          </a:p>
        </p:txBody>
      </p:sp>
      <p:sp>
        <p:nvSpPr>
          <p:cNvPr id="16" name="Diferencial círculo"/>
          <p:cNvSpPr/>
          <p:nvPr/>
        </p:nvSpPr>
        <p:spPr>
          <a:xfrm>
            <a:off x="457200" y="3429000"/>
            <a:ext cx="502920" cy="502920"/>
          </a:xfrm>
          <a:prstGeom prst="ellipse">
            <a:avLst/>
          </a:prstGeom>
          <a:solidFill>
            <a:srgbClr val="3F8F6B"/>
          </a:solidFill>
          <a:ln w="12700">
            <a:solidFill>
              <a:srgbClr val="3F8F6B"/>
            </a:solidFill>
            <a:prstDash val="solid"/>
          </a:ln>
        </p:spPr>
      </p:sp>
      <p:pic>
        <p:nvPicPr>
          <p:cNvPr id="17" name="Diferencial icono" descr="Diferenci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930" y="3554730"/>
            <a:ext cx="251460" cy="25146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078992" y="33832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Diferencial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3694176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Minería de contratos y TDRs: ninguna herramienta revisada la documenta</a:t>
            </a:r>
            <a:endParaRPr lang="en-US" sz="1200" dirty="0"/>
          </a:p>
        </p:txBody>
      </p:sp>
      <p:sp>
        <p:nvSpPr>
          <p:cNvPr id="20" name="Procedencia círculo"/>
          <p:cNvSpPr/>
          <p:nvPr/>
        </p:nvSpPr>
        <p:spPr>
          <a:xfrm>
            <a:off x="3246120" y="3429000"/>
            <a:ext cx="502920" cy="502920"/>
          </a:xfrm>
          <a:prstGeom prst="ellipse">
            <a:avLst/>
          </a:prstGeom>
          <a:solidFill>
            <a:srgbClr val="3F8F6B"/>
          </a:solidFill>
          <a:ln w="12700">
            <a:solidFill>
              <a:srgbClr val="3F8F6B"/>
            </a:solidFill>
            <a:prstDash val="solid"/>
          </a:ln>
        </p:spPr>
      </p:sp>
      <p:pic>
        <p:nvPicPr>
          <p:cNvPr id="21" name="Procedencia icono" descr="Procedenci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1850" y="3554730"/>
            <a:ext cx="251460" cy="25146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3867912" y="33832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Procedencia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3867912" y="3694176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Cada atributo guarda fuente, método y cita a línea o cláusula</a:t>
            </a:r>
            <a:endParaRPr lang="en-US" sz="1200" dirty="0"/>
          </a:p>
        </p:txBody>
      </p:sp>
      <p:sp>
        <p:nvSpPr>
          <p:cNvPr id="24" name="Menos fricción círculo"/>
          <p:cNvSpPr/>
          <p:nvPr/>
        </p:nvSpPr>
        <p:spPr>
          <a:xfrm>
            <a:off x="6035040" y="3429000"/>
            <a:ext cx="502920" cy="502920"/>
          </a:xfrm>
          <a:prstGeom prst="ellipse">
            <a:avLst/>
          </a:prstGeom>
          <a:solidFill>
            <a:srgbClr val="3F8F6B"/>
          </a:solidFill>
          <a:ln w="12700">
            <a:solidFill>
              <a:srgbClr val="3F8F6B"/>
            </a:solidFill>
            <a:prstDash val="solid"/>
          </a:ln>
        </p:spPr>
      </p:sp>
      <p:pic>
        <p:nvPicPr>
          <p:cNvPr id="25" name="Menos fricción icono" descr="Menos fricció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0770" y="3554730"/>
            <a:ext cx="251460" cy="25146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6656832" y="33832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Menos fricción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6656832" y="3694176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Preguntas de un clic en lugar de cuestionarios extensos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457200" y="4690872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3"/>
                </a:solidFill>
              </a:rPr>
              <a:t>Las metas son propuestas del diseño y se ajustan en el piloto de calibración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Retos y riesgos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5953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podría salir mal y cómo lo bloquea el diseño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Riesgo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703320" y="12801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Mitigación por diseño</a:t>
            </a:r>
            <a:endParaRPr lang="en-US" sz="1100" dirty="0"/>
          </a:p>
        </p:txBody>
      </p:sp>
      <p:sp>
        <p:nvSpPr>
          <p:cNvPr id="6" name="riesgo 1"/>
          <p:cNvSpPr/>
          <p:nvPr/>
        </p:nvSpPr>
        <p:spPr>
          <a:xfrm>
            <a:off x="457200" y="1600200"/>
            <a:ext cx="3017520" cy="512064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" name="Score y umbral sin calibrar círculo"/>
          <p:cNvSpPr/>
          <p:nvPr/>
        </p:nvSpPr>
        <p:spPr>
          <a:xfrm>
            <a:off x="548640" y="1673352"/>
            <a:ext cx="365760" cy="365760"/>
          </a:xfrm>
          <a:prstGeom prst="ellipse">
            <a:avLst/>
          </a:prstGeom>
          <a:solidFill>
            <a:srgbClr val="C4533A"/>
          </a:solidFill>
          <a:ln w="12700">
            <a:solidFill>
              <a:srgbClr val="C4533A"/>
            </a:solidFill>
            <a:prstDash val="solid"/>
          </a:ln>
        </p:spPr>
      </p:sp>
      <p:pic>
        <p:nvPicPr>
          <p:cNvPr id="8" name="Score y umbral sin calibrar icono" descr="Score y umbral sin calibr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64792"/>
            <a:ext cx="182880" cy="1828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05840" y="1600200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Score y umbral sin calibrar</a:t>
            </a:r>
            <a:endParaRPr lang="en-US" sz="1200" dirty="0"/>
          </a:p>
        </p:txBody>
      </p:sp>
      <p:sp>
        <p:nvSpPr>
          <p:cNvPr id="10" name="riesgo a mitigación 1"/>
          <p:cNvSpPr/>
          <p:nvPr/>
        </p:nvSpPr>
        <p:spPr>
          <a:xfrm>
            <a:off x="3493008" y="1856232"/>
            <a:ext cx="164592" cy="914"/>
          </a:xfrm>
          <a:prstGeom prst="line">
            <a:avLst/>
          </a:prstGeom>
          <a:noFill/>
          <a:ln w="19050">
            <a:solidFill>
              <a:srgbClr val="5F7480"/>
            </a:solidFill>
            <a:prstDash val="solid"/>
            <a:tailEnd type="triangle"/>
          </a:ln>
        </p:spPr>
      </p:sp>
      <p:sp>
        <p:nvSpPr>
          <p:cNvPr id="11" name="mitigación 1"/>
          <p:cNvSpPr/>
          <p:nvPr/>
        </p:nvSpPr>
        <p:spPr>
          <a:xfrm>
            <a:off x="3703320" y="1600200"/>
            <a:ext cx="4983480" cy="512064"/>
          </a:xfrm>
          <a:prstGeom prst="roundRect">
            <a:avLst>
              <a:gd name="adj" fmla="val 14286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>
                <a:alpha val="12000"/>
              </a:scheme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840480" y="1600200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Piloto de calibración con un conjunto verificado antes de F3 y F4</a:t>
            </a:r>
            <a:endParaRPr lang="en-US" sz="1200" dirty="0"/>
          </a:p>
        </p:txBody>
      </p:sp>
      <p:sp>
        <p:nvSpPr>
          <p:cNvPr id="13" name="riesgo 2"/>
          <p:cNvSpPr/>
          <p:nvPr/>
        </p:nvSpPr>
        <p:spPr>
          <a:xfrm>
            <a:off x="457200" y="2203704"/>
            <a:ext cx="3017520" cy="512064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Carga de revisión humana círculo"/>
          <p:cNvSpPr/>
          <p:nvPr/>
        </p:nvSpPr>
        <p:spPr>
          <a:xfrm>
            <a:off x="548640" y="2276856"/>
            <a:ext cx="365760" cy="365760"/>
          </a:xfrm>
          <a:prstGeom prst="ellipse">
            <a:avLst/>
          </a:prstGeom>
          <a:solidFill>
            <a:srgbClr val="C4533A"/>
          </a:solidFill>
          <a:ln w="12700">
            <a:solidFill>
              <a:srgbClr val="C4533A"/>
            </a:solidFill>
            <a:prstDash val="solid"/>
          </a:ln>
        </p:spPr>
      </p:sp>
      <p:pic>
        <p:nvPicPr>
          <p:cNvPr id="15" name="Carga de revisión humana icono" descr="Carga de revisión human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68296"/>
            <a:ext cx="182880" cy="18288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05840" y="2203704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Carga de revisión humana</a:t>
            </a:r>
            <a:endParaRPr lang="en-US" sz="1200" dirty="0"/>
          </a:p>
        </p:txBody>
      </p:sp>
      <p:sp>
        <p:nvSpPr>
          <p:cNvPr id="17" name="riesgo a mitigación 2"/>
          <p:cNvSpPr/>
          <p:nvPr/>
        </p:nvSpPr>
        <p:spPr>
          <a:xfrm>
            <a:off x="3493008" y="2459736"/>
            <a:ext cx="164592" cy="914"/>
          </a:xfrm>
          <a:prstGeom prst="line">
            <a:avLst/>
          </a:prstGeom>
          <a:noFill/>
          <a:ln w="19050">
            <a:solidFill>
              <a:srgbClr val="5F7480"/>
            </a:solidFill>
            <a:prstDash val="solid"/>
            <a:tailEnd type="triangle"/>
          </a:ln>
        </p:spPr>
      </p:sp>
      <p:sp>
        <p:nvSpPr>
          <p:cNvPr id="18" name="mitigación 2"/>
          <p:cNvSpPr/>
          <p:nvPr/>
        </p:nvSpPr>
        <p:spPr>
          <a:xfrm>
            <a:off x="3703320" y="2203704"/>
            <a:ext cx="4983480" cy="512064"/>
          </a:xfrm>
          <a:prstGeom prst="roundRect">
            <a:avLst>
              <a:gd name="adj" fmla="val 14286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>
                <a:alpha val="12000"/>
              </a:scheme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3840480" y="2203704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SLA propuesto de 5 días hábiles y métricas de cola desde el inicio</a:t>
            </a:r>
            <a:endParaRPr lang="en-US" sz="1200" dirty="0"/>
          </a:p>
        </p:txBody>
      </p:sp>
      <p:sp>
        <p:nvSpPr>
          <p:cNvPr id="20" name="riesgo 3"/>
          <p:cNvSpPr/>
          <p:nvPr/>
        </p:nvSpPr>
        <p:spPr>
          <a:xfrm>
            <a:off x="457200" y="2807208"/>
            <a:ext cx="3017520" cy="512064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Sesgo de automatización círculo"/>
          <p:cNvSpPr/>
          <p:nvPr/>
        </p:nvSpPr>
        <p:spPr>
          <a:xfrm>
            <a:off x="548640" y="2880360"/>
            <a:ext cx="365760" cy="365760"/>
          </a:xfrm>
          <a:prstGeom prst="ellipse">
            <a:avLst/>
          </a:prstGeom>
          <a:solidFill>
            <a:srgbClr val="C4533A"/>
          </a:solidFill>
          <a:ln w="12700">
            <a:solidFill>
              <a:srgbClr val="C4533A"/>
            </a:solidFill>
            <a:prstDash val="solid"/>
          </a:ln>
        </p:spPr>
      </p:sp>
      <p:pic>
        <p:nvPicPr>
          <p:cNvPr id="22" name="Sesgo de automatización icono" descr="Sesgo de automatizació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71800"/>
            <a:ext cx="182880" cy="18288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005840" y="2807208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Sesgo de automatización</a:t>
            </a:r>
            <a:endParaRPr lang="en-US" sz="1200" dirty="0"/>
          </a:p>
        </p:txBody>
      </p:sp>
      <p:sp>
        <p:nvSpPr>
          <p:cNvPr id="24" name="riesgo a mitigación 3"/>
          <p:cNvSpPr/>
          <p:nvPr/>
        </p:nvSpPr>
        <p:spPr>
          <a:xfrm>
            <a:off x="3493008" y="3063240"/>
            <a:ext cx="164592" cy="914"/>
          </a:xfrm>
          <a:prstGeom prst="line">
            <a:avLst/>
          </a:prstGeom>
          <a:noFill/>
          <a:ln w="19050">
            <a:solidFill>
              <a:srgbClr val="5F7480"/>
            </a:solidFill>
            <a:prstDash val="solid"/>
            <a:tailEnd type="triangle"/>
          </a:ln>
        </p:spPr>
      </p:sp>
      <p:sp>
        <p:nvSpPr>
          <p:cNvPr id="25" name="mitigación 3"/>
          <p:cNvSpPr/>
          <p:nvPr/>
        </p:nvSpPr>
        <p:spPr>
          <a:xfrm>
            <a:off x="3703320" y="2807208"/>
            <a:ext cx="4983480" cy="512064"/>
          </a:xfrm>
          <a:prstGeom prst="roundRect">
            <a:avLst>
              <a:gd name="adj" fmla="val 14286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>
                <a:alpha val="12000"/>
              </a:schemeClr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3840480" y="2807208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Aprobar solo tras ver evidencia y diff; sin lotes de baja confianza</a:t>
            </a:r>
            <a:endParaRPr lang="en-US" sz="1200" dirty="0"/>
          </a:p>
        </p:txBody>
      </p:sp>
      <p:sp>
        <p:nvSpPr>
          <p:cNvPr id="27" name="riesgo 4"/>
          <p:cNvSpPr/>
          <p:nvPr/>
        </p:nvSpPr>
        <p:spPr>
          <a:xfrm>
            <a:off x="457200" y="3410712"/>
            <a:ext cx="3017520" cy="512064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8" name="Datos personales círculo"/>
          <p:cNvSpPr/>
          <p:nvPr/>
        </p:nvSpPr>
        <p:spPr>
          <a:xfrm>
            <a:off x="548640" y="3483864"/>
            <a:ext cx="365760" cy="365760"/>
          </a:xfrm>
          <a:prstGeom prst="ellipse">
            <a:avLst/>
          </a:prstGeom>
          <a:solidFill>
            <a:srgbClr val="C4533A"/>
          </a:solidFill>
          <a:ln w="12700">
            <a:solidFill>
              <a:srgbClr val="C4533A"/>
            </a:solidFill>
            <a:prstDash val="solid"/>
          </a:ln>
        </p:spPr>
      </p:sp>
      <p:pic>
        <p:nvPicPr>
          <p:cNvPr id="29" name="Datos personales icono" descr="Datos personal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575304"/>
            <a:ext cx="182880" cy="18288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1005840" y="3410712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Datos personales</a:t>
            </a:r>
            <a:endParaRPr lang="en-US" sz="1200" dirty="0"/>
          </a:p>
        </p:txBody>
      </p:sp>
      <p:sp>
        <p:nvSpPr>
          <p:cNvPr id="31" name="riesgo a mitigación 4"/>
          <p:cNvSpPr/>
          <p:nvPr/>
        </p:nvSpPr>
        <p:spPr>
          <a:xfrm>
            <a:off x="3493008" y="3666744"/>
            <a:ext cx="164592" cy="914"/>
          </a:xfrm>
          <a:prstGeom prst="line">
            <a:avLst/>
          </a:prstGeom>
          <a:noFill/>
          <a:ln w="19050">
            <a:solidFill>
              <a:srgbClr val="5F7480"/>
            </a:solidFill>
            <a:prstDash val="solid"/>
            <a:tailEnd type="triangle"/>
          </a:ln>
        </p:spPr>
      </p:sp>
      <p:sp>
        <p:nvSpPr>
          <p:cNvPr id="32" name="mitigación 4"/>
          <p:cNvSpPr/>
          <p:nvPr/>
        </p:nvSpPr>
        <p:spPr>
          <a:xfrm>
            <a:off x="3703320" y="3410712"/>
            <a:ext cx="4983480" cy="512064"/>
          </a:xfrm>
          <a:prstGeom prst="roundRect">
            <a:avLst>
              <a:gd name="adj" fmla="val 14286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>
                <a:alpha val="12000"/>
              </a:schemeClr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3840480" y="3410712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Minimización y seudonimización de autores y firmantes</a:t>
            </a:r>
            <a:endParaRPr lang="en-US" sz="1200" dirty="0"/>
          </a:p>
        </p:txBody>
      </p:sp>
      <p:sp>
        <p:nvSpPr>
          <p:cNvPr id="34" name="riesgo 5"/>
          <p:cNvSpPr/>
          <p:nvPr/>
        </p:nvSpPr>
        <p:spPr>
          <a:xfrm>
            <a:off x="457200" y="4014216"/>
            <a:ext cx="3017520" cy="512064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5" name="Construcción propia vs. productos maduros círculo"/>
          <p:cNvSpPr/>
          <p:nvPr/>
        </p:nvSpPr>
        <p:spPr>
          <a:xfrm>
            <a:off x="548640" y="4087368"/>
            <a:ext cx="365760" cy="365760"/>
          </a:xfrm>
          <a:prstGeom prst="ellipse">
            <a:avLst/>
          </a:prstGeom>
          <a:solidFill>
            <a:srgbClr val="C4533A"/>
          </a:solidFill>
          <a:ln w="12700">
            <a:solidFill>
              <a:srgbClr val="C4533A"/>
            </a:solidFill>
            <a:prstDash val="solid"/>
          </a:ln>
        </p:spPr>
      </p:sp>
      <p:pic>
        <p:nvPicPr>
          <p:cNvPr id="36" name="Construcción propia vs. productos maduros icono" descr="Construcción propia vs. productos maduro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178808"/>
            <a:ext cx="182880" cy="18288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1005840" y="4014216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Construcción propia vs. productos maduros</a:t>
            </a:r>
            <a:endParaRPr lang="en-US" sz="1200" dirty="0"/>
          </a:p>
        </p:txBody>
      </p:sp>
      <p:sp>
        <p:nvSpPr>
          <p:cNvPr id="38" name="riesgo a mitigación 5"/>
          <p:cNvSpPr/>
          <p:nvPr/>
        </p:nvSpPr>
        <p:spPr>
          <a:xfrm>
            <a:off x="3493008" y="4270248"/>
            <a:ext cx="164592" cy="914"/>
          </a:xfrm>
          <a:prstGeom prst="line">
            <a:avLst/>
          </a:prstGeom>
          <a:noFill/>
          <a:ln w="19050">
            <a:solidFill>
              <a:srgbClr val="5F7480"/>
            </a:solidFill>
            <a:prstDash val="solid"/>
            <a:tailEnd type="triangle"/>
          </a:ln>
        </p:spPr>
      </p:sp>
      <p:sp>
        <p:nvSpPr>
          <p:cNvPr id="39" name="mitigación 5"/>
          <p:cNvSpPr/>
          <p:nvPr/>
        </p:nvSpPr>
        <p:spPr>
          <a:xfrm>
            <a:off x="3703320" y="4014216"/>
            <a:ext cx="4983480" cy="512064"/>
          </a:xfrm>
          <a:prstGeom prst="roundRect">
            <a:avLst>
              <a:gd name="adj" fmla="val 14286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>
                <a:alpha val="12000"/>
              </a:schemeClr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3840480" y="4014216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Fuentes abiertas, incumbentes como referencia y alcance acotado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457200" y="464515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Mecanismo de detención en 3 niveles: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detener un agente · solo lectura · sin IA (el APM sigue operando)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lace del grafo"/>
          <p:cNvSpPr/>
          <p:nvPr/>
        </p:nvSpPr>
        <p:spPr>
          <a:xfrm flipH="1" flipV="1">
            <a:off x="854466" y="1981962"/>
            <a:ext cx="1385814" cy="624078"/>
          </a:xfrm>
          <a:prstGeom prst="line">
            <a:avLst/>
          </a:prstGeom>
          <a:noFill/>
          <a:ln w="12700">
            <a:solidFill>
              <a:srgbClr val="9CC6CB"/>
            </a:solidFill>
            <a:prstDash val="solid"/>
          </a:ln>
        </p:spPr>
      </p:sp>
      <p:sp>
        <p:nvSpPr>
          <p:cNvPr id="3" name="enlace del grafo"/>
          <p:cNvSpPr/>
          <p:nvPr/>
        </p:nvSpPr>
        <p:spPr>
          <a:xfrm flipH="1" flipV="1">
            <a:off x="2104798" y="1398160"/>
            <a:ext cx="135482" cy="1207880"/>
          </a:xfrm>
          <a:prstGeom prst="line">
            <a:avLst/>
          </a:prstGeom>
          <a:noFill/>
          <a:ln w="12700">
            <a:solidFill>
              <a:srgbClr val="9CC6CB"/>
            </a:solidFill>
            <a:prstDash val="solid"/>
          </a:ln>
        </p:spPr>
      </p:sp>
      <p:sp>
        <p:nvSpPr>
          <p:cNvPr id="4" name="enlace del grafo"/>
          <p:cNvSpPr/>
          <p:nvPr/>
        </p:nvSpPr>
        <p:spPr>
          <a:xfrm flipV="1">
            <a:off x="2240280" y="1890127"/>
            <a:ext cx="1310807" cy="715913"/>
          </a:xfrm>
          <a:prstGeom prst="line">
            <a:avLst/>
          </a:prstGeom>
          <a:noFill/>
          <a:ln w="12700">
            <a:solidFill>
              <a:srgbClr val="9CC6CB"/>
            </a:solidFill>
            <a:prstDash val="solid"/>
          </a:ln>
        </p:spPr>
      </p:sp>
      <p:sp>
        <p:nvSpPr>
          <p:cNvPr id="5" name="enlace del grafo"/>
          <p:cNvSpPr/>
          <p:nvPr/>
        </p:nvSpPr>
        <p:spPr>
          <a:xfrm>
            <a:off x="2240280" y="2606040"/>
            <a:ext cx="1408837" cy="512422"/>
          </a:xfrm>
          <a:prstGeom prst="line">
            <a:avLst/>
          </a:prstGeom>
          <a:noFill/>
          <a:ln w="12700">
            <a:solidFill>
              <a:srgbClr val="9CC6CB"/>
            </a:solidFill>
            <a:prstDash val="solid"/>
          </a:ln>
        </p:spPr>
      </p:sp>
      <p:sp>
        <p:nvSpPr>
          <p:cNvPr id="6" name="enlace del grafo"/>
          <p:cNvSpPr/>
          <p:nvPr/>
        </p:nvSpPr>
        <p:spPr>
          <a:xfrm>
            <a:off x="2240280" y="2606040"/>
            <a:ext cx="914" cy="1141171"/>
          </a:xfrm>
          <a:prstGeom prst="line">
            <a:avLst/>
          </a:prstGeom>
          <a:noFill/>
          <a:ln w="12700">
            <a:solidFill>
              <a:srgbClr val="9CC6CB"/>
            </a:solidFill>
            <a:prstDash val="solid"/>
          </a:ln>
        </p:spPr>
      </p:sp>
      <p:sp>
        <p:nvSpPr>
          <p:cNvPr id="7" name="enlace del grafo"/>
          <p:cNvSpPr/>
          <p:nvPr/>
        </p:nvSpPr>
        <p:spPr>
          <a:xfrm flipH="1">
            <a:off x="854466" y="2606040"/>
            <a:ext cx="1385814" cy="624078"/>
          </a:xfrm>
          <a:prstGeom prst="line">
            <a:avLst/>
          </a:prstGeom>
          <a:noFill/>
          <a:ln w="12700">
            <a:solidFill>
              <a:srgbClr val="9CC6CB"/>
            </a:solidFill>
            <a:prstDash val="solid"/>
          </a:ln>
        </p:spPr>
      </p:sp>
      <p:sp>
        <p:nvSpPr>
          <p:cNvPr id="8" name="nodo 1 círculo"/>
          <p:cNvSpPr/>
          <p:nvPr/>
        </p:nvSpPr>
        <p:spPr>
          <a:xfrm>
            <a:off x="561858" y="1689354"/>
            <a:ext cx="585216" cy="585216"/>
          </a:xfrm>
          <a:prstGeom prst="ellipse">
            <a:avLst/>
          </a:prstGeom>
          <a:solidFill>
            <a:srgbClr val="127C86"/>
          </a:solidFill>
          <a:ln w="12700">
            <a:solidFill>
              <a:srgbClr val="127C86"/>
            </a:solidFill>
            <a:prstDash val="solid"/>
          </a:ln>
        </p:spPr>
      </p:sp>
      <p:pic>
        <p:nvPicPr>
          <p:cNvPr id="9" name="nodo 1 icono" descr="nodo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162" y="1835658"/>
            <a:ext cx="292608" cy="292608"/>
          </a:xfrm>
          <a:prstGeom prst="rect">
            <a:avLst/>
          </a:prstGeom>
        </p:spPr>
      </p:pic>
      <p:sp>
        <p:nvSpPr>
          <p:cNvPr id="10" name="nodo 2 círculo"/>
          <p:cNvSpPr/>
          <p:nvPr/>
        </p:nvSpPr>
        <p:spPr>
          <a:xfrm>
            <a:off x="1812190" y="1105552"/>
            <a:ext cx="585216" cy="585216"/>
          </a:xfrm>
          <a:prstGeom prst="ellipse">
            <a:avLst/>
          </a:prstGeom>
          <a:solidFill>
            <a:srgbClr val="5F7480"/>
          </a:solidFill>
          <a:ln w="12700">
            <a:solidFill>
              <a:srgbClr val="5F7480"/>
            </a:solidFill>
            <a:prstDash val="solid"/>
          </a:ln>
        </p:spPr>
      </p:sp>
      <p:pic>
        <p:nvPicPr>
          <p:cNvPr id="11" name="nodo 2 icono" descr="nodo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494" y="1251856"/>
            <a:ext cx="292608" cy="292608"/>
          </a:xfrm>
          <a:prstGeom prst="rect">
            <a:avLst/>
          </a:prstGeom>
        </p:spPr>
      </p:pic>
      <p:sp>
        <p:nvSpPr>
          <p:cNvPr id="12" name="nodo 3 círculo"/>
          <p:cNvSpPr/>
          <p:nvPr/>
        </p:nvSpPr>
        <p:spPr>
          <a:xfrm>
            <a:off x="3258479" y="1597519"/>
            <a:ext cx="585216" cy="585216"/>
          </a:xfrm>
          <a:prstGeom prst="ellipse">
            <a:avLst/>
          </a:prstGeom>
          <a:solidFill>
            <a:srgbClr val="127C86"/>
          </a:solidFill>
          <a:ln w="12700">
            <a:solidFill>
              <a:srgbClr val="127C86"/>
            </a:solidFill>
            <a:prstDash val="solid"/>
          </a:ln>
        </p:spPr>
      </p:sp>
      <p:pic>
        <p:nvPicPr>
          <p:cNvPr id="13" name="nodo 3 icono" descr="nodo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4783" y="1743823"/>
            <a:ext cx="292608" cy="292608"/>
          </a:xfrm>
          <a:prstGeom prst="rect">
            <a:avLst/>
          </a:prstGeom>
        </p:spPr>
      </p:pic>
      <p:sp>
        <p:nvSpPr>
          <p:cNvPr id="14" name="nodo 4 círculo"/>
          <p:cNvSpPr/>
          <p:nvPr/>
        </p:nvSpPr>
        <p:spPr>
          <a:xfrm>
            <a:off x="3356509" y="2825854"/>
            <a:ext cx="585216" cy="585216"/>
          </a:xfrm>
          <a:prstGeom prst="ellipse">
            <a:avLst/>
          </a:prstGeom>
          <a:solidFill>
            <a:srgbClr val="3F8F6B"/>
          </a:solidFill>
          <a:ln w="12700">
            <a:solidFill>
              <a:srgbClr val="3F8F6B"/>
            </a:solidFill>
            <a:prstDash val="solid"/>
          </a:ln>
        </p:spPr>
      </p:sp>
      <p:pic>
        <p:nvPicPr>
          <p:cNvPr id="15" name="nodo 4 icono" descr="nodo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813" y="2972158"/>
            <a:ext cx="292608" cy="292608"/>
          </a:xfrm>
          <a:prstGeom prst="rect">
            <a:avLst/>
          </a:prstGeom>
        </p:spPr>
      </p:pic>
      <p:sp>
        <p:nvSpPr>
          <p:cNvPr id="16" name="nodo 5 círculo"/>
          <p:cNvSpPr/>
          <p:nvPr/>
        </p:nvSpPr>
        <p:spPr>
          <a:xfrm>
            <a:off x="1947672" y="3454603"/>
            <a:ext cx="585216" cy="585216"/>
          </a:xfrm>
          <a:prstGeom prst="ellipse">
            <a:avLst/>
          </a:prstGeom>
          <a:solidFill>
            <a:srgbClr val="5F7480"/>
          </a:solidFill>
          <a:ln w="12700">
            <a:solidFill>
              <a:srgbClr val="5F7480"/>
            </a:solidFill>
            <a:prstDash val="solid"/>
          </a:ln>
        </p:spPr>
      </p:sp>
      <p:pic>
        <p:nvPicPr>
          <p:cNvPr id="17" name="nodo 5 icono" descr="nodo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3976" y="3600907"/>
            <a:ext cx="292608" cy="292608"/>
          </a:xfrm>
          <a:prstGeom prst="rect">
            <a:avLst/>
          </a:prstGeom>
        </p:spPr>
      </p:pic>
      <p:sp>
        <p:nvSpPr>
          <p:cNvPr id="18" name="nodo 6 círculo"/>
          <p:cNvSpPr/>
          <p:nvPr/>
        </p:nvSpPr>
        <p:spPr>
          <a:xfrm>
            <a:off x="561858" y="2937510"/>
            <a:ext cx="585216" cy="585216"/>
          </a:xfrm>
          <a:prstGeom prst="ellipse">
            <a:avLst/>
          </a:prstGeom>
          <a:solidFill>
            <a:srgbClr val="127C86"/>
          </a:solidFill>
          <a:ln w="12700">
            <a:solidFill>
              <a:srgbClr val="127C86"/>
            </a:solidFill>
            <a:prstDash val="solid"/>
          </a:ln>
        </p:spPr>
      </p:sp>
      <p:pic>
        <p:nvPicPr>
          <p:cNvPr id="19" name="nodo 6 icono" descr="nodo 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162" y="3083814"/>
            <a:ext cx="292608" cy="292608"/>
          </a:xfrm>
          <a:prstGeom prst="rect">
            <a:avLst/>
          </a:prstGeom>
        </p:spPr>
      </p:pic>
      <p:sp>
        <p:nvSpPr>
          <p:cNvPr id="20" name="halo"/>
          <p:cNvSpPr/>
          <p:nvPr/>
        </p:nvSpPr>
        <p:spPr>
          <a:xfrm>
            <a:off x="1527048" y="1892808"/>
            <a:ext cx="1426464" cy="1426464"/>
          </a:xfrm>
          <a:prstGeom prst="ellipse">
            <a:avLst/>
          </a:prstGeom>
          <a:solidFill>
            <a:srgbClr val="F2A900">
              <a:alpha val="25000"/>
            </a:srgbClr>
          </a:solidFill>
          <a:ln w="12700">
            <a:solidFill>
              <a:srgbClr val="F2A900">
                <a:alpha val="25000"/>
              </a:srgbClr>
            </a:solidFill>
            <a:prstDash val="solid"/>
          </a:ln>
        </p:spPr>
      </p:sp>
      <p:sp>
        <p:nvSpPr>
          <p:cNvPr id="21" name="nodo central círculo"/>
          <p:cNvSpPr/>
          <p:nvPr/>
        </p:nvSpPr>
        <p:spPr>
          <a:xfrm>
            <a:off x="1691640" y="2057400"/>
            <a:ext cx="1097280" cy="10972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22" name="nodo central icono" descr="nodo central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65960" y="2331720"/>
            <a:ext cx="548640" cy="54864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4572000" y="13258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5400" dirty="0"/>
          </a:p>
        </p:txBody>
      </p:sp>
      <p:sp>
        <p:nvSpPr>
          <p:cNvPr id="24" name="Text 15"/>
          <p:cNvSpPr txBox="1"/>
          <p:nvPr/>
        </p:nvSpPr>
        <p:spPr>
          <a:xfrm>
            <a:off x="4572000" y="23317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3000" dirty="0"/>
          </a:p>
        </p:txBody>
      </p:sp>
      <p:sp>
        <p:nvSpPr>
          <p:cNvPr id="25" name="Text 16"/>
          <p:cNvSpPr txBox="1"/>
          <p:nvPr/>
        </p:nvSpPr>
        <p:spPr>
          <a:xfrm>
            <a:off x="4572000" y="320040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Un catálogo vivo y gobernado: la IA propone, la persona dispone</a:t>
            </a:r>
            <a:endParaRPr lang="en-US" sz="1600" dirty="0"/>
          </a:p>
        </p:txBody>
      </p:sp>
      <p:sp>
        <p:nvSpPr>
          <p:cNvPr id="26" name="Text 17"/>
          <p:cNvSpPr txBox="1"/>
          <p:nvPr/>
        </p:nvSpPr>
        <p:spPr>
          <a:xfrm>
            <a:off x="4572000" y="4206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APM con IA agéntica · Equipo de Arquitectura TI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PM Agentico">
  <a:themeElements>
    <a:clrScheme name="APM Agentico">
      <a:dk1>
        <a:srgbClr val="1E2A30"/>
      </a:dk1>
      <a:lt1>
        <a:srgbClr val="FFFFFF"/>
      </a:lt1>
      <a:dk2>
        <a:srgbClr val="0B3C49"/>
      </a:dk2>
      <a:lt2>
        <a:srgbClr val="EEF3F4"/>
      </a:lt2>
      <a:accent1>
        <a:srgbClr val="127C86"/>
      </a:accent1>
      <a:accent2>
        <a:srgbClr val="F2A900"/>
      </a:accent2>
      <a:accent3>
        <a:srgbClr val="5F7480"/>
      </a:accent3>
      <a:accent4>
        <a:srgbClr val="C4533A"/>
      </a:accent4>
      <a:accent5>
        <a:srgbClr val="3F8F6B"/>
      </a:accent5>
      <a:accent6>
        <a:srgbClr val="9CC6CB"/>
      </a:accent6>
      <a:hlink>
        <a:srgbClr val="127C86"/>
      </a:hlink>
      <a:folHlink>
        <a:srgbClr val="5F7480"/>
      </a:folHlink>
    </a:clrScheme>
    <a:fontScheme name="APM Agentic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APM con IA agéntica</dc:title>
  <dc:subject>Pitch de la idea: gestión del portafolio de aplicaciones con IA agéntica</dc:subject>
  <dc:creator>Equipo de Arquitectura TI</dc:creator>
  <cp:lastModifiedBy>Equipo de Arquitectura TI</cp:lastModifiedBy>
  <cp:revision>1</cp:revision>
  <dcterms:created xsi:type="dcterms:W3CDTF">2026-10-15T22:55:51Z</dcterms:created>
  <dcterms:modified xsi:type="dcterms:W3CDTF">2026-10-15T22:55:51Z</dcterms:modified>
</cp:coreProperties>
</file>