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s/slide6.xml" ContentType="application/vnd.openxmlformats-officedocument.presentationml.slid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3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handoutMasters/handoutMaster1.xml" ContentType="application/vnd.openxmlformats-officedocument.presentationml.handoutMaster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s/slide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5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x="9144000" cy="5143500"/>
  <p:notesSz cx="5143500" cy="9144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2880"/>
        <p:guide pos="162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theme" Target="theme/theme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 /><Relationship Id="rId16" Type="http://schemas.openxmlformats.org/officeDocument/2006/relationships/tableStyles" Target="tableStyles.xml" /><Relationship Id="rId17" Type="http://schemas.openxmlformats.org/officeDocument/2006/relationships/viewProps" Target="viewProps.xml" /></Relationships>
</file>

<file path=ppt/handoutMasters/_rels/handout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820271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228850" cy="458786"/>
          </a:xfrm>
          <a:prstGeom prst="rect">
            <a:avLst/>
          </a:prstGeom>
        </p:spPr>
        <p:txBody>
          <a:bodyPr vert="horz" lIns="91440" tIns="45720" rIns="91440" bIns="45720" anchor="t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1633509" name="Date Placeholder 2"/>
          <p:cNvSpPr>
            <a:spLocks noGrp="1"/>
          </p:cNvSpPr>
          <p:nvPr>
            <p:ph type="dt" idx="3"/>
          </p:nvPr>
        </p:nvSpPr>
        <p:spPr bwMode="auto">
          <a:xfrm>
            <a:off x="2914650" y="0"/>
            <a:ext cx="2228850" cy="458786"/>
          </a:xfrm>
          <a:prstGeom prst="rect">
            <a:avLst/>
          </a:prstGeom>
        </p:spPr>
        <p:txBody>
          <a:bodyPr vert="horz" lIns="91440" tIns="45720" rIns="91440" bIns="45720" anchor="t"/>
          <a:lstStyle>
            <a:lvl1pPr algn="r">
              <a:defRPr sz="1200"/>
            </a:lvl1pPr>
          </a:lstStyle>
          <a:p>
            <a:pPr>
              <a:defRPr/>
            </a:pPr>
            <a:fld id="{2858BA07-AB8D-6194-3066-567361661B21}" type="datetimeFigureOut">
              <a:rPr lang="en-US"/>
              <a:t/>
            </a:fld>
            <a:endParaRPr/>
          </a:p>
        </p:txBody>
      </p:sp>
      <p:sp>
        <p:nvSpPr>
          <p:cNvPr id="706535840" name="Footer Placeholder 3"/>
          <p:cNvSpPr>
            <a:spLocks noGrp="1"/>
          </p:cNvSpPr>
          <p:nvPr>
            <p:ph type="ftr" sz="quarter" idx="2"/>
          </p:nvPr>
        </p:nvSpPr>
        <p:spPr bwMode="auto">
          <a:xfrm>
            <a:off x="0" y="8685213"/>
            <a:ext cx="2228850" cy="458786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27276892" name="Slide Number Placeholder 4"/>
          <p:cNvSpPr>
            <a:spLocks noGrp="1"/>
          </p:cNvSpPr>
          <p:nvPr>
            <p:ph type="sldNum" sz="quarter" idx="3"/>
          </p:nvPr>
        </p:nvSpPr>
        <p:spPr bwMode="auto">
          <a:xfrm>
            <a:off x="2914650" y="8685213"/>
            <a:ext cx="2228850" cy="458786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>
              <a:defRPr/>
            </a:pPr>
            <a:fld id="{2B2785D5-2036-05E1-3269-12076737046E}" type="slidenum">
              <a:rPr/>
              <a:t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543986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32620321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164611337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45721090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287704880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36279118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36097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241303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Buenos días. Les presento la idea de un sistema de gestión del portafolio de aplicaciones (APM) para el equipo de Arquitectura TI, impulsado por IA agéntica. Es un caso académico: no hay datos ni organizaciones reales. La idea central es que el catálogo deje de depender de la carga manual y se mantenga vivo con agentes que descubren y concilian evidencia, siempre con una persona aprobando. El grafo de la derecha representa el portafolio: código, contratos, datos, seguridad y personas conectados en un solo lugar.</a:t>
            </a:r>
            <a:endParaRPr lang="en-US"/>
          </a:p>
        </p:txBody>
      </p:sp>
      <p:sp>
        <p:nvSpPr>
          <p:cNvPr id="9592622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90064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832626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Hoy el portafolio se gestiona con información dispersa: hojas de cálculo, la CMDB, los repositorios y los contratos o TDRs, cada uno por su lado. Mantener el catálogo exige cuestionarios largos que nadie quiere llenar, así que se desactualiza por fatiga y falta de incentivos. Consecuencia: no vemos qué aplicaciones tienen vulnerabilidades o tecnologías al final de su soporte, ni el impacto de un cambio, y aparece Shadow IT. El mensaje clave: el problema no es analizar el catálogo, es capturarlo y unificarlo.</a:t>
            </a:r>
            <a:endParaRPr lang="en-US"/>
          </a:p>
        </p:txBody>
      </p:sp>
      <p:sp>
        <p:nvSpPr>
          <p:cNvPr id="4073045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05982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11882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Este es el estado actual como diagrama. A la izquierda, las cinco fuentes donde vive la verdad: hojas de cálculo, la CMDB, los repositorios con su CI/CD, los contratos y TDRs, y lo que saben las personas. Las líneas punteadas representan copias manuales: todo converge en una consolidación a mano, con correos, reuniones y cuestionarios. El equipo de Arquitectura se convierte en cuello de botella y el resultado es un catálogo desactualizado, sin trazabilidad y sin visibilidad de riesgo ni de impacto.</a:t>
            </a:r>
            <a:endParaRPr lang="en-US"/>
          </a:p>
        </p:txBody>
      </p:sp>
      <p:sp>
        <p:nvSpPr>
          <p:cNvPr id="20941447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15751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93997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La solución combina seis herramientas, todas centradas en capturar el dato. La principal es el pipeline multi-agente: cuatro agentes que descubren y concilian evidencia. Nuestro diferencial es la minería de contratos y TDRs: proveedor, vigencia, SLA y licencias, citados por cláusula. Todo se apoya en un metamodelo de Fact Sheets en ArchiMate 3.2; el catálogo se consulta vía API y un servidor MCP, más ligero que un chat propio, que queda como opción posterior. La gobernanza es humano en el bucle: la IA solo crea borradores y el arquitecto aprueba después de ver la evidencia. Usamos fuentes abiertas: SBOM en CycloneDX, endoflife.date para fin de soporte y NVD u OSV para vulnerabilidades, guardando la procedencia de cada atributo. La plataforma es portable: Azure es el objetivo empresarial, el MVP corre en la capa gratuita de Azure o GCP y el proveedor de IA es intercambiable entre Gemini, OpenAI, Claude o Azure OpenAI. ¿Por qué no comprar? LeanIX, ServiceNow o Ardoq son maduros y nos sirven de referencia de diseño, pero nuestro valor está en la captura de datos, y construimos sin costo de licencias.</a:t>
            </a:r>
            <a:endParaRPr lang="en-US"/>
          </a:p>
        </p:txBody>
      </p:sp>
      <p:sp>
        <p:nvSpPr>
          <p:cNvPr id="20037491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02870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702475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Así funciona la solución de punta a punta. Las fuentes técnicas, contractuales y el catálogo existente alimentan a dos agentes de descubrimiento: Code-to-Catalog lee repositorios y despliegues; Dark Data Miner extrae datos de contratos y TDRs. El Reconciliador ancla esa evidencia en el catálogo existente, con relaciones N:M y un score de confianza. Si el score queda bajo el umbral o faltan datos, el agente Micro-Nudge hace una pregunta de un clic al dueño técnico; lo que no coincide con nada va a revisión humana como posible Shadow IT. Al final un arquitecto aprueba y se publica en el catálogo gobernado, sobre el que funcionan la consulta vía API y servidor MCP para personas y otros agentes, vulnerabilidades, obsolescencia y análisis de impacto. El chat queda como capacidad opcional posterior. Es una simplificación del diagrama ArchiMate del portal.</a:t>
            </a:r>
            <a:endParaRPr lang="en-US"/>
          </a:p>
        </p:txBody>
      </p:sp>
      <p:sp>
        <p:nvSpPr>
          <p:cNvPr id="17098651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524899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103190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Los beneficios. Cuatro agentes especializados mantienen el catálogo actualizado con mínima intervención humana. El diseño exige que el 100 % de los cambios gobernados tenga un aprobador humano registrado. Las alertas de obsolescencia llegan con 6 a 12 meses de anticipación para planificar renovaciones. Y el costo de licencias es cero: construimos con fuentes abiertas; el costo de equipo y operación aún se debe estimar. Frente al mercado, nuestro diferencial es la minería de contratos y TDRs, que ninguna de las herramientas revisadas documenta, junto con la procedencia por atributo con cita a la línea de código o a la cláusula. Además, menos fricción gracias a preguntas de un clic. Aclaro que estas metas son propuestas y se ajustan en un piloto de calibración.</a:t>
            </a:r>
            <a:endParaRPr lang="en-US"/>
          </a:p>
        </p:txBody>
      </p:sp>
      <p:sp>
        <p:nvSpPr>
          <p:cNvPr id="10995382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989177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426051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Seamos honestos con los retos. Primero, el score de confianza y su umbral aún no están calibrados: un piloto con un conjunto verificado de aplicaciones fija los umbrales antes de las fases 3 y 4. Segundo, la carga de revisión humana podría volverse el nuevo cuello de botella: proponemos un SLA de 5 días hábiles con escalamiento y medimos desde el inicio el tamaño y la antigüedad de la cola. Tercero, el sesgo de automatización: el botón Aprobar aparece solo después de la evidencia y el diff, y las propuestas de baja confianza no se aprueban en lote. Cuarto, los datos personales de autores y firmantes: se minimizan y se seudonimizan. Quinto, construir frente a productos maduros: usamos fuentes abiertas, tomamos a los incumbentes como referencia y acotamos el alcance con un MVP. Y si algo falla, existe un mecanismo de detención en tres niveles, hasta apagar la IA sin detener el APM.</a:t>
            </a:r>
            <a:endParaRPr lang="en-US"/>
          </a:p>
        </p:txBody>
      </p:sp>
      <p:sp>
        <p:nvSpPr>
          <p:cNvPr id="2655807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73589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514201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Para cerrar: la propuesta es pasar de un catálogo manual que siempre llega tarde a un catálogo vivo, alimentado por agentes y gobernado por personas. La IA propone con evidencia y la persona dispone. Muchas gracias; quedo atento a sus preguntas.</a:t>
            </a:r>
            <a:endParaRPr lang="en-US"/>
          </a:p>
        </p:txBody>
      </p:sp>
      <p:sp>
        <p:nvSpPr>
          <p:cNvPr id="2034996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APM_OSCURO">
    <p:bg>
      <p:bgPr shadeToTitle="0">
        <a:solidFill>
          <a:srgbClr val="0B3C49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APM_CONTENIDO">
    <p:bg>
      <p:bgPr shadeToTitle="0">
        <a:solidFill>
          <a:srgbClr val="EEF3F4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7139670" name="Text 0"/>
          <p:cNvSpPr/>
          <p:nvPr>
            <p:ph type="title" idx="100" hasCustomPrompt="1"/>
          </p:nvPr>
        </p:nvSpPr>
        <p:spPr bwMode="auto"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marL="0" indent="0" algn="l">
              <a:buNone/>
              <a:defRPr/>
            </a:pPr>
            <a:endParaRPr lang="en-US" sz="3200"/>
          </a:p>
        </p:txBody>
      </p:sp>
      <p:sp>
        <p:nvSpPr>
          <p:cNvPr id="1715770258" name="Text 0"/>
          <p:cNvSpPr/>
          <p:nvPr>
            <p:ph type="body" idx="101" hasCustomPrompt="1"/>
          </p:nvPr>
        </p:nvSpPr>
        <p:spPr bwMode="auto">
          <a:xfrm>
            <a:off x="457200" y="859536"/>
            <a:ext cx="8229600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marL="0" indent="0" algn="l">
              <a:buNone/>
              <a:defRPr/>
            </a:pPr>
            <a:endParaRPr lang="en-US" sz="1600"/>
          </a:p>
        </p:txBody>
      </p:sp>
      <p:sp>
        <p:nvSpPr>
          <p:cNvPr id="1770228472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8229600" y="475488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767883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8229600" y="475488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Relationship Id="rId8" Type="http://schemas.openxmlformats.org/officeDocument/2006/relationships/image" Target="../media/image33.png"/><Relationship Id="rId9" Type="http://schemas.openxmlformats.org/officeDocument/2006/relationships/image" Target="../media/image34.png"/><Relationship Id="rId10" Type="http://schemas.openxmlformats.org/officeDocument/2006/relationships/image" Target="../media/image35.png"/><Relationship Id="rId11" Type="http://schemas.openxmlformats.org/officeDocument/2006/relationships/image" Target="../media/image36.png"/><Relationship Id="rId12" Type="http://schemas.openxmlformats.org/officeDocument/2006/relationships/image" Target="../media/image37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image" Target="../media/image44.png"/><Relationship Id="rId7" Type="http://schemas.openxmlformats.org/officeDocument/2006/relationships/image" Target="../media/image45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8198274" name="Text 0"/>
          <p:cNvSpPr txBox="1"/>
          <p:nvPr/>
        </p:nvSpPr>
        <p:spPr bwMode="auto">
          <a:xfrm>
            <a:off x="548640" y="685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300">
                <a:solidFill>
                  <a:schemeClr val="accent2"/>
                </a:solidFill>
              </a:rPr>
              <a:t>PROPUESTA · CASO ACADÉMICO</a:t>
            </a:r>
            <a:endParaRPr lang="en-US" sz="1200"/>
          </a:p>
        </p:txBody>
      </p:sp>
      <p:sp>
        <p:nvSpPr>
          <p:cNvPr id="564775125" name="Text 1"/>
          <p:cNvSpPr txBox="1"/>
          <p:nvPr/>
        </p:nvSpPr>
        <p:spPr bwMode="auto">
          <a:xfrm>
            <a:off x="548640" y="1097280"/>
            <a:ext cx="4526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34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Portafolio de aplicaciones gobernado por IA agéntica</a:t>
            </a:r>
            <a:endParaRPr lang="en-US" sz="3400"/>
          </a:p>
        </p:txBody>
      </p:sp>
      <p:sp>
        <p:nvSpPr>
          <p:cNvPr id="1515560471" name="Text 2"/>
          <p:cNvSpPr txBox="1"/>
          <p:nvPr/>
        </p:nvSpPr>
        <p:spPr bwMode="auto">
          <a:xfrm>
            <a:off x="548640" y="29260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600">
                <a:solidFill>
                  <a:schemeClr val="accent6"/>
                </a:solidFill>
              </a:rPr>
              <a:t>Un APM que descubre, concilia y mantiene vivo el catálogo del equipo de Arquitectura TI</a:t>
            </a:r>
            <a:endParaRPr lang="en-US" sz="1600"/>
          </a:p>
        </p:txBody>
      </p:sp>
      <p:sp>
        <p:nvSpPr>
          <p:cNvPr id="621694072" name="Text 3"/>
          <p:cNvSpPr txBox="1"/>
          <p:nvPr/>
        </p:nvSpPr>
        <p:spPr bwMode="auto">
          <a:xfrm>
            <a:off x="548640" y="4160519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s-ES" sz="1400" i="1">
                <a:solidFill>
                  <a:schemeClr val="accent2"/>
                </a:solidFill>
              </a:rPr>
              <a:t>Davis Cartagena</a:t>
            </a:r>
            <a:endParaRPr lang="en-US" sz="1400"/>
          </a:p>
        </p:txBody>
      </p:sp>
      <p:sp>
        <p:nvSpPr>
          <p:cNvPr id="1361413930" name="enlace del grafo"/>
          <p:cNvSpPr/>
          <p:nvPr/>
        </p:nvSpPr>
        <p:spPr bwMode="auto">
          <a:xfrm flipH="1" flipV="1">
            <a:off x="5792226" y="1981962"/>
            <a:ext cx="1385814" cy="624078"/>
          </a:xfrm>
          <a:prstGeom prst="line">
            <a:avLst/>
          </a:prstGeom>
          <a:noFill/>
          <a:ln w="12700">
            <a:solidFill>
              <a:srgbClr val="9CC6CB"/>
            </a:solidFill>
            <a:prstDash val="solid"/>
          </a:ln>
        </p:spPr>
      </p:sp>
      <p:sp>
        <p:nvSpPr>
          <p:cNvPr id="584614828" name="enlace del grafo"/>
          <p:cNvSpPr/>
          <p:nvPr/>
        </p:nvSpPr>
        <p:spPr bwMode="auto">
          <a:xfrm flipH="1" flipV="1">
            <a:off x="7042558" y="1398160"/>
            <a:ext cx="135482" cy="1207880"/>
          </a:xfrm>
          <a:prstGeom prst="line">
            <a:avLst/>
          </a:prstGeom>
          <a:noFill/>
          <a:ln w="12700">
            <a:solidFill>
              <a:srgbClr val="9CC6CB"/>
            </a:solidFill>
            <a:prstDash val="solid"/>
          </a:ln>
        </p:spPr>
      </p:sp>
      <p:sp>
        <p:nvSpPr>
          <p:cNvPr id="1793876061" name="enlace del grafo"/>
          <p:cNvSpPr/>
          <p:nvPr/>
        </p:nvSpPr>
        <p:spPr bwMode="auto">
          <a:xfrm flipV="1">
            <a:off x="7178039" y="1890127"/>
            <a:ext cx="1310807" cy="715912"/>
          </a:xfrm>
          <a:prstGeom prst="line">
            <a:avLst/>
          </a:prstGeom>
          <a:noFill/>
          <a:ln w="12700">
            <a:solidFill>
              <a:srgbClr val="9CC6CB"/>
            </a:solidFill>
            <a:prstDash val="solid"/>
          </a:ln>
        </p:spPr>
      </p:sp>
      <p:sp>
        <p:nvSpPr>
          <p:cNvPr id="1094822439" name="enlace del grafo"/>
          <p:cNvSpPr/>
          <p:nvPr/>
        </p:nvSpPr>
        <p:spPr bwMode="auto">
          <a:xfrm>
            <a:off x="7178039" y="2606040"/>
            <a:ext cx="1408837" cy="512422"/>
          </a:xfrm>
          <a:prstGeom prst="line">
            <a:avLst/>
          </a:prstGeom>
          <a:noFill/>
          <a:ln w="12700">
            <a:solidFill>
              <a:srgbClr val="9CC6CB"/>
            </a:solidFill>
            <a:prstDash val="solid"/>
          </a:ln>
        </p:spPr>
      </p:sp>
      <p:sp>
        <p:nvSpPr>
          <p:cNvPr id="286351439" name="enlace del grafo"/>
          <p:cNvSpPr/>
          <p:nvPr/>
        </p:nvSpPr>
        <p:spPr bwMode="auto">
          <a:xfrm>
            <a:off x="7178039" y="2606040"/>
            <a:ext cx="914" cy="1141171"/>
          </a:xfrm>
          <a:prstGeom prst="line">
            <a:avLst/>
          </a:prstGeom>
          <a:noFill/>
          <a:ln w="12700">
            <a:solidFill>
              <a:srgbClr val="9CC6CB"/>
            </a:solidFill>
            <a:prstDash val="solid"/>
          </a:ln>
        </p:spPr>
      </p:sp>
      <p:sp>
        <p:nvSpPr>
          <p:cNvPr id="1286427017" name="enlace del grafo"/>
          <p:cNvSpPr/>
          <p:nvPr/>
        </p:nvSpPr>
        <p:spPr bwMode="auto">
          <a:xfrm flipH="1">
            <a:off x="5792226" y="2606040"/>
            <a:ext cx="1385814" cy="624078"/>
          </a:xfrm>
          <a:prstGeom prst="line">
            <a:avLst/>
          </a:prstGeom>
          <a:noFill/>
          <a:ln w="12700">
            <a:solidFill>
              <a:srgbClr val="9CC6CB"/>
            </a:solidFill>
            <a:prstDash val="solid"/>
          </a:ln>
        </p:spPr>
      </p:sp>
      <p:sp>
        <p:nvSpPr>
          <p:cNvPr id="811857155" name="nodo 1 círculo"/>
          <p:cNvSpPr/>
          <p:nvPr/>
        </p:nvSpPr>
        <p:spPr bwMode="auto">
          <a:xfrm>
            <a:off x="5499618" y="1689354"/>
            <a:ext cx="585216" cy="585216"/>
          </a:xfrm>
          <a:prstGeom prst="ellipse">
            <a:avLst/>
          </a:prstGeom>
          <a:solidFill>
            <a:srgbClr val="127C86"/>
          </a:solidFill>
          <a:ln w="12700">
            <a:solidFill>
              <a:srgbClr val="127C86"/>
            </a:solidFill>
            <a:prstDash val="solid"/>
          </a:ln>
        </p:spPr>
      </p:sp>
      <p:pic>
        <p:nvPicPr>
          <p:cNvPr id="1109850201" name="nodo 1 icono" descr="nodo 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645922" y="1835658"/>
            <a:ext cx="292608" cy="292608"/>
          </a:xfrm>
          <a:prstGeom prst="rect">
            <a:avLst/>
          </a:prstGeom>
        </p:spPr>
      </p:pic>
      <p:sp>
        <p:nvSpPr>
          <p:cNvPr id="1992909467" name="nodo 2 círculo"/>
          <p:cNvSpPr/>
          <p:nvPr/>
        </p:nvSpPr>
        <p:spPr bwMode="auto">
          <a:xfrm>
            <a:off x="6749950" y="1105552"/>
            <a:ext cx="585216" cy="585216"/>
          </a:xfrm>
          <a:prstGeom prst="ellipse">
            <a:avLst/>
          </a:prstGeom>
          <a:solidFill>
            <a:srgbClr val="5F7480"/>
          </a:solidFill>
          <a:ln w="12700">
            <a:solidFill>
              <a:srgbClr val="5F7480"/>
            </a:solidFill>
            <a:prstDash val="solid"/>
          </a:ln>
        </p:spPr>
      </p:sp>
      <p:pic>
        <p:nvPicPr>
          <p:cNvPr id="532191788" name="nodo 2 icono" descr="nodo 2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896254" y="1251856"/>
            <a:ext cx="292608" cy="292608"/>
          </a:xfrm>
          <a:prstGeom prst="rect">
            <a:avLst/>
          </a:prstGeom>
        </p:spPr>
      </p:pic>
      <p:sp>
        <p:nvSpPr>
          <p:cNvPr id="1357358373" name="nodo 3 círculo"/>
          <p:cNvSpPr/>
          <p:nvPr/>
        </p:nvSpPr>
        <p:spPr bwMode="auto">
          <a:xfrm>
            <a:off x="8196239" y="1597519"/>
            <a:ext cx="585216" cy="585216"/>
          </a:xfrm>
          <a:prstGeom prst="ellipse">
            <a:avLst/>
          </a:prstGeom>
          <a:solidFill>
            <a:srgbClr val="127C86"/>
          </a:solidFill>
          <a:ln w="12700">
            <a:solidFill>
              <a:srgbClr val="127C86"/>
            </a:solidFill>
            <a:prstDash val="solid"/>
          </a:ln>
        </p:spPr>
      </p:sp>
      <p:pic>
        <p:nvPicPr>
          <p:cNvPr id="1494755451" name="nodo 3 icono" descr="nodo 3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8342543" y="1743823"/>
            <a:ext cx="292608" cy="292608"/>
          </a:xfrm>
          <a:prstGeom prst="rect">
            <a:avLst/>
          </a:prstGeom>
        </p:spPr>
      </p:pic>
      <p:sp>
        <p:nvSpPr>
          <p:cNvPr id="1715931129" name="nodo 4 círculo"/>
          <p:cNvSpPr/>
          <p:nvPr/>
        </p:nvSpPr>
        <p:spPr bwMode="auto">
          <a:xfrm>
            <a:off x="8294269" y="2825854"/>
            <a:ext cx="585216" cy="585216"/>
          </a:xfrm>
          <a:prstGeom prst="ellipse">
            <a:avLst/>
          </a:prstGeom>
          <a:solidFill>
            <a:srgbClr val="3F8F6B"/>
          </a:solidFill>
          <a:ln w="12700">
            <a:solidFill>
              <a:srgbClr val="3F8F6B"/>
            </a:solidFill>
            <a:prstDash val="solid"/>
          </a:ln>
        </p:spPr>
      </p:sp>
      <p:pic>
        <p:nvPicPr>
          <p:cNvPr id="154687" name="nodo 4 icono" descr="nodo 4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8440573" y="2972158"/>
            <a:ext cx="292608" cy="292608"/>
          </a:xfrm>
          <a:prstGeom prst="rect">
            <a:avLst/>
          </a:prstGeom>
        </p:spPr>
      </p:pic>
      <p:sp>
        <p:nvSpPr>
          <p:cNvPr id="968959077" name="nodo 5 círculo"/>
          <p:cNvSpPr/>
          <p:nvPr/>
        </p:nvSpPr>
        <p:spPr bwMode="auto">
          <a:xfrm>
            <a:off x="6885432" y="3454603"/>
            <a:ext cx="585216" cy="585216"/>
          </a:xfrm>
          <a:prstGeom prst="ellipse">
            <a:avLst/>
          </a:prstGeom>
          <a:solidFill>
            <a:srgbClr val="5F7480"/>
          </a:solidFill>
          <a:ln w="12700">
            <a:solidFill>
              <a:srgbClr val="5F7480"/>
            </a:solidFill>
            <a:prstDash val="solid"/>
          </a:ln>
        </p:spPr>
      </p:sp>
      <p:pic>
        <p:nvPicPr>
          <p:cNvPr id="1297555376" name="nodo 5 icono" descr="nodo 5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7031736" y="3600906"/>
            <a:ext cx="292608" cy="292608"/>
          </a:xfrm>
          <a:prstGeom prst="rect">
            <a:avLst/>
          </a:prstGeom>
        </p:spPr>
      </p:pic>
      <p:sp>
        <p:nvSpPr>
          <p:cNvPr id="539292529" name="nodo 6 círculo"/>
          <p:cNvSpPr/>
          <p:nvPr/>
        </p:nvSpPr>
        <p:spPr bwMode="auto">
          <a:xfrm>
            <a:off x="5499618" y="2937510"/>
            <a:ext cx="585216" cy="585216"/>
          </a:xfrm>
          <a:prstGeom prst="ellipse">
            <a:avLst/>
          </a:prstGeom>
          <a:solidFill>
            <a:srgbClr val="127C86"/>
          </a:solidFill>
          <a:ln w="12700">
            <a:solidFill>
              <a:srgbClr val="127C86"/>
            </a:solidFill>
            <a:prstDash val="solid"/>
          </a:ln>
        </p:spPr>
      </p:sp>
      <p:pic>
        <p:nvPicPr>
          <p:cNvPr id="1781704097" name="nodo 6 icono" descr="nodo 6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5645922" y="3083814"/>
            <a:ext cx="292608" cy="292608"/>
          </a:xfrm>
          <a:prstGeom prst="rect">
            <a:avLst/>
          </a:prstGeom>
        </p:spPr>
      </p:pic>
      <p:sp>
        <p:nvSpPr>
          <p:cNvPr id="641466666" name="halo"/>
          <p:cNvSpPr/>
          <p:nvPr/>
        </p:nvSpPr>
        <p:spPr bwMode="auto">
          <a:xfrm>
            <a:off x="6464808" y="1892808"/>
            <a:ext cx="1426464" cy="1426464"/>
          </a:xfrm>
          <a:prstGeom prst="ellipse">
            <a:avLst/>
          </a:prstGeom>
          <a:solidFill>
            <a:srgbClr val="F2A900">
              <a:alpha val="25000"/>
            </a:srgbClr>
          </a:solidFill>
          <a:ln w="12700">
            <a:solidFill>
              <a:srgbClr val="F2A900">
                <a:alpha val="25000"/>
              </a:srgbClr>
            </a:solidFill>
            <a:prstDash val="solid"/>
          </a:ln>
        </p:spPr>
      </p:sp>
      <p:sp>
        <p:nvSpPr>
          <p:cNvPr id="1102510445" name="nodo central círculo"/>
          <p:cNvSpPr/>
          <p:nvPr/>
        </p:nvSpPr>
        <p:spPr bwMode="auto">
          <a:xfrm>
            <a:off x="6629400" y="2057400"/>
            <a:ext cx="1097280" cy="109728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444281952" name="nodo central icono" descr="nodo central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6903720" y="2331720"/>
            <a:ext cx="548640" cy="5486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2173848" name="Text 0"/>
          <p:cNvSpPr/>
          <p:nvPr>
            <p:ph type="title" idx="100" hasCustomPrompt="1"/>
          </p:nvPr>
        </p:nvSpPr>
        <p:spPr bwMode="auto"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2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Problema actual</a:t>
            </a:r>
            <a:endParaRPr lang="en-US" sz="3200"/>
          </a:p>
        </p:txBody>
      </p:sp>
      <p:sp>
        <p:nvSpPr>
          <p:cNvPr id="1667763346" name="Text 0"/>
          <p:cNvSpPr/>
          <p:nvPr>
            <p:ph type="body" idx="101" hasCustomPrompt="1"/>
          </p:nvPr>
        </p:nvSpPr>
        <p:spPr bwMode="auto">
          <a:xfrm>
            <a:off x="457200" y="85953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/>
            </a:pPr>
            <a:r>
              <a:rPr lang="en-US" sz="1600">
                <a:solidFill>
                  <a:schemeClr val="accent3"/>
                </a:solidFill>
                <a:latin typeface="Calibri"/>
                <a:ea typeface="Calibri"/>
                <a:cs typeface="Calibri"/>
              </a:rPr>
              <a:t>El catálogo manual no sigue el ritmo real del portafolio</a:t>
            </a:r>
            <a:endParaRPr lang="en-US" sz="1600"/>
          </a:p>
        </p:txBody>
      </p:sp>
      <p:sp>
        <p:nvSpPr>
          <p:cNvPr id="2143212494" name="panel cita"/>
          <p:cNvSpPr/>
          <p:nvPr/>
        </p:nvSpPr>
        <p:spPr bwMode="auto">
          <a:xfrm>
            <a:off x="457200" y="1417320"/>
            <a:ext cx="2743200" cy="324612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49802551" name="alerta círculo"/>
          <p:cNvSpPr/>
          <p:nvPr/>
        </p:nvSpPr>
        <p:spPr bwMode="auto">
          <a:xfrm>
            <a:off x="731520" y="1691640"/>
            <a:ext cx="548640" cy="548640"/>
          </a:xfrm>
          <a:prstGeom prst="ellipse">
            <a:avLst/>
          </a:prstGeom>
          <a:solidFill>
            <a:srgbClr val="C4533A"/>
          </a:solidFill>
          <a:ln w="12700">
            <a:solidFill>
              <a:srgbClr val="C4533A"/>
            </a:solidFill>
            <a:prstDash val="solid"/>
          </a:ln>
        </p:spPr>
      </p:sp>
      <p:pic>
        <p:nvPicPr>
          <p:cNvPr id="568405635" name="alerta icono" descr="alerta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68680" y="1828800"/>
            <a:ext cx="274320" cy="274320"/>
          </a:xfrm>
          <a:prstGeom prst="rect">
            <a:avLst/>
          </a:prstGeom>
        </p:spPr>
      </p:pic>
      <p:sp>
        <p:nvSpPr>
          <p:cNvPr id="1628847568" name="Text 4"/>
          <p:cNvSpPr txBox="1"/>
          <p:nvPr/>
        </p:nvSpPr>
        <p:spPr bwMode="auto">
          <a:xfrm>
            <a:off x="731520" y="237744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9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El verdadero cuello de botella es la captura y unificación de los datos</a:t>
            </a:r>
            <a:endParaRPr lang="en-US" sz="1900"/>
          </a:p>
        </p:txBody>
      </p:sp>
      <p:sp>
        <p:nvSpPr>
          <p:cNvPr id="1891641938" name="Text 5"/>
          <p:cNvSpPr txBox="1"/>
          <p:nvPr/>
        </p:nvSpPr>
        <p:spPr bwMode="auto">
          <a:xfrm>
            <a:off x="731520" y="37947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chemeClr val="accent6"/>
                </a:solidFill>
              </a:rPr>
              <a:t>La IA tradicional actúa como «bombero downstream»: asume un catálogo limpio que no existe</a:t>
            </a:r>
            <a:endParaRPr lang="en-US" sz="1200"/>
          </a:p>
        </p:txBody>
      </p:sp>
      <p:sp>
        <p:nvSpPr>
          <p:cNvPr id="191910506" name="Inventario disperso círculo"/>
          <p:cNvSpPr/>
          <p:nvPr/>
        </p:nvSpPr>
        <p:spPr bwMode="auto">
          <a:xfrm>
            <a:off x="3520440" y="1463040"/>
            <a:ext cx="457200" cy="457200"/>
          </a:xfrm>
          <a:prstGeom prst="ellipse">
            <a:avLst/>
          </a:prstGeom>
          <a:solidFill>
            <a:srgbClr val="C4533A"/>
          </a:solidFill>
          <a:ln w="12700">
            <a:solidFill>
              <a:srgbClr val="C4533A"/>
            </a:solidFill>
            <a:prstDash val="solid"/>
          </a:ln>
        </p:spPr>
      </p:sp>
      <p:pic>
        <p:nvPicPr>
          <p:cNvPr id="843550763" name="Inventario disperso icono" descr="Inventario disperso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634740" y="1577340"/>
            <a:ext cx="228600" cy="228600"/>
          </a:xfrm>
          <a:prstGeom prst="rect">
            <a:avLst/>
          </a:prstGeom>
        </p:spPr>
      </p:pic>
      <p:sp>
        <p:nvSpPr>
          <p:cNvPr id="1098194309" name="Text 7"/>
          <p:cNvSpPr txBox="1"/>
          <p:nvPr/>
        </p:nvSpPr>
        <p:spPr bwMode="auto">
          <a:xfrm>
            <a:off x="4087368" y="1417320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 b="1">
                <a:solidFill>
                  <a:schemeClr val="tx2"/>
                </a:solidFill>
              </a:rPr>
              <a:t>Inventario disperso</a:t>
            </a:r>
            <a:endParaRPr lang="en-US" sz="1500"/>
          </a:p>
        </p:txBody>
      </p:sp>
      <p:sp>
        <p:nvSpPr>
          <p:cNvPr id="1743160884" name="Text 8"/>
          <p:cNvSpPr txBox="1"/>
          <p:nvPr/>
        </p:nvSpPr>
        <p:spPr bwMode="auto">
          <a:xfrm>
            <a:off x="4087368" y="1746504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chemeClr val="tx1"/>
                </a:solidFill>
              </a:rPr>
              <a:t>Excel, CMDB, repositorios y contratos sin conexión entre sí</a:t>
            </a:r>
            <a:endParaRPr lang="en-US" sz="1200"/>
          </a:p>
        </p:txBody>
      </p:sp>
      <p:sp>
        <p:nvSpPr>
          <p:cNvPr id="710264246" name="Mantenimiento manual círculo"/>
          <p:cNvSpPr/>
          <p:nvPr/>
        </p:nvSpPr>
        <p:spPr bwMode="auto">
          <a:xfrm>
            <a:off x="6172200" y="1463040"/>
            <a:ext cx="457200" cy="457200"/>
          </a:xfrm>
          <a:prstGeom prst="ellipse">
            <a:avLst/>
          </a:prstGeom>
          <a:solidFill>
            <a:srgbClr val="C4533A"/>
          </a:solidFill>
          <a:ln w="12700">
            <a:solidFill>
              <a:srgbClr val="C4533A"/>
            </a:solidFill>
            <a:prstDash val="solid"/>
          </a:ln>
        </p:spPr>
      </p:sp>
      <p:pic>
        <p:nvPicPr>
          <p:cNvPr id="1183171075" name="Mantenimiento manual icono" descr="Mantenimiento manual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286500" y="1577340"/>
            <a:ext cx="228600" cy="228600"/>
          </a:xfrm>
          <a:prstGeom prst="rect">
            <a:avLst/>
          </a:prstGeom>
        </p:spPr>
      </p:pic>
      <p:sp>
        <p:nvSpPr>
          <p:cNvPr id="1019591468" name="Text 10"/>
          <p:cNvSpPr txBox="1"/>
          <p:nvPr/>
        </p:nvSpPr>
        <p:spPr bwMode="auto">
          <a:xfrm>
            <a:off x="6739128" y="1417320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 b="1">
                <a:solidFill>
                  <a:schemeClr val="tx2"/>
                </a:solidFill>
              </a:rPr>
              <a:t>Mantenimiento manual</a:t>
            </a:r>
            <a:endParaRPr lang="en-US" sz="1500"/>
          </a:p>
        </p:txBody>
      </p:sp>
      <p:sp>
        <p:nvSpPr>
          <p:cNvPr id="1856537908" name="Text 11"/>
          <p:cNvSpPr txBox="1"/>
          <p:nvPr/>
        </p:nvSpPr>
        <p:spPr bwMode="auto">
          <a:xfrm>
            <a:off x="6739128" y="1746504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chemeClr val="tx1"/>
                </a:solidFill>
              </a:rPr>
              <a:t>Cuestionarios de decenas de campos generan resistencia y datos ficticios</a:t>
            </a:r>
            <a:endParaRPr lang="en-US" sz="1200"/>
          </a:p>
        </p:txBody>
      </p:sp>
      <p:sp>
        <p:nvSpPr>
          <p:cNvPr id="693623462" name="Catálogo desactualizado círculo"/>
          <p:cNvSpPr/>
          <p:nvPr/>
        </p:nvSpPr>
        <p:spPr bwMode="auto">
          <a:xfrm>
            <a:off x="3520440" y="2578608"/>
            <a:ext cx="457200" cy="457200"/>
          </a:xfrm>
          <a:prstGeom prst="ellipse">
            <a:avLst/>
          </a:prstGeom>
          <a:solidFill>
            <a:srgbClr val="C4533A"/>
          </a:solidFill>
          <a:ln w="12700">
            <a:solidFill>
              <a:srgbClr val="C4533A"/>
            </a:solidFill>
            <a:prstDash val="solid"/>
          </a:ln>
        </p:spPr>
      </p:sp>
      <p:pic>
        <p:nvPicPr>
          <p:cNvPr id="165381859" name="Catálogo desactualizado icono" descr="Catálogo desactualizado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3634740" y="2692908"/>
            <a:ext cx="228600" cy="228600"/>
          </a:xfrm>
          <a:prstGeom prst="rect">
            <a:avLst/>
          </a:prstGeom>
        </p:spPr>
      </p:pic>
      <p:sp>
        <p:nvSpPr>
          <p:cNvPr id="2132576466" name="Text 13"/>
          <p:cNvSpPr txBox="1"/>
          <p:nvPr/>
        </p:nvSpPr>
        <p:spPr bwMode="auto">
          <a:xfrm>
            <a:off x="4087368" y="253288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 b="1">
                <a:solidFill>
                  <a:schemeClr val="tx2"/>
                </a:solidFill>
              </a:rPr>
              <a:t>Catálogo desactualizado</a:t>
            </a:r>
            <a:endParaRPr lang="en-US" sz="1500"/>
          </a:p>
        </p:txBody>
      </p:sp>
      <p:sp>
        <p:nvSpPr>
          <p:cNvPr id="825221490" name="Text 14"/>
          <p:cNvSpPr txBox="1"/>
          <p:nvPr/>
        </p:nvSpPr>
        <p:spPr bwMode="auto">
          <a:xfrm>
            <a:off x="4087368" y="286207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chemeClr val="tx1"/>
                </a:solidFill>
              </a:rPr>
              <a:t>Falla por fatiga burocrática y falta de incentivos</a:t>
            </a:r>
            <a:endParaRPr lang="en-US" sz="1200"/>
          </a:p>
        </p:txBody>
      </p:sp>
      <p:sp>
        <p:nvSpPr>
          <p:cNvPr id="1647814852" name="Riesgo invisible círculo"/>
          <p:cNvSpPr/>
          <p:nvPr/>
        </p:nvSpPr>
        <p:spPr bwMode="auto">
          <a:xfrm>
            <a:off x="6172200" y="2578608"/>
            <a:ext cx="457200" cy="457200"/>
          </a:xfrm>
          <a:prstGeom prst="ellipse">
            <a:avLst/>
          </a:prstGeom>
          <a:solidFill>
            <a:srgbClr val="C4533A"/>
          </a:solidFill>
          <a:ln w="12700">
            <a:solidFill>
              <a:srgbClr val="C4533A"/>
            </a:solidFill>
            <a:prstDash val="solid"/>
          </a:ln>
        </p:spPr>
      </p:sp>
      <p:pic>
        <p:nvPicPr>
          <p:cNvPr id="1757902508" name="Riesgo invisible icono" descr="Riesgo invisible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6286500" y="2692908"/>
            <a:ext cx="228600" cy="228600"/>
          </a:xfrm>
          <a:prstGeom prst="rect">
            <a:avLst/>
          </a:prstGeom>
        </p:spPr>
      </p:pic>
      <p:sp>
        <p:nvSpPr>
          <p:cNvPr id="711130070" name="Text 16"/>
          <p:cNvSpPr txBox="1"/>
          <p:nvPr/>
        </p:nvSpPr>
        <p:spPr bwMode="auto">
          <a:xfrm>
            <a:off x="6739128" y="253288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 b="1">
                <a:solidFill>
                  <a:schemeClr val="tx2"/>
                </a:solidFill>
              </a:rPr>
              <a:t>Riesgo invisible</a:t>
            </a:r>
            <a:endParaRPr lang="en-US" sz="1500"/>
          </a:p>
        </p:txBody>
      </p:sp>
      <p:sp>
        <p:nvSpPr>
          <p:cNvPr id="1764815574" name="Text 17"/>
          <p:cNvSpPr txBox="1"/>
          <p:nvPr/>
        </p:nvSpPr>
        <p:spPr bwMode="auto">
          <a:xfrm>
            <a:off x="6739128" y="286207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chemeClr val="tx1"/>
                </a:solidFill>
              </a:rPr>
              <a:t>CVE y fin de soporte (EOL) sin correlación con las aplicaciones</a:t>
            </a:r>
            <a:endParaRPr lang="en-US" sz="1200"/>
          </a:p>
        </p:txBody>
      </p:sp>
      <p:sp>
        <p:nvSpPr>
          <p:cNvPr id="798184735" name="Impacto desconocido círculo"/>
          <p:cNvSpPr/>
          <p:nvPr/>
        </p:nvSpPr>
        <p:spPr bwMode="auto">
          <a:xfrm>
            <a:off x="3520440" y="3694176"/>
            <a:ext cx="457200" cy="457200"/>
          </a:xfrm>
          <a:prstGeom prst="ellipse">
            <a:avLst/>
          </a:prstGeom>
          <a:solidFill>
            <a:srgbClr val="C4533A"/>
          </a:solidFill>
          <a:ln w="12700">
            <a:solidFill>
              <a:srgbClr val="C4533A"/>
            </a:solidFill>
            <a:prstDash val="solid"/>
          </a:ln>
        </p:spPr>
      </p:sp>
      <p:pic>
        <p:nvPicPr>
          <p:cNvPr id="58876639" name="Impacto desconocido icono" descr="Impacto desconocido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3634740" y="3808476"/>
            <a:ext cx="228600" cy="228600"/>
          </a:xfrm>
          <a:prstGeom prst="rect">
            <a:avLst/>
          </a:prstGeom>
        </p:spPr>
      </p:pic>
      <p:sp>
        <p:nvSpPr>
          <p:cNvPr id="1365362373" name="Text 19"/>
          <p:cNvSpPr txBox="1"/>
          <p:nvPr/>
        </p:nvSpPr>
        <p:spPr bwMode="auto">
          <a:xfrm>
            <a:off x="4087368" y="364845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 b="1">
                <a:solidFill>
                  <a:schemeClr val="tx2"/>
                </a:solidFill>
              </a:rPr>
              <a:t>Impacto desconocido</a:t>
            </a:r>
            <a:endParaRPr lang="en-US" sz="1500"/>
          </a:p>
        </p:txBody>
      </p:sp>
      <p:sp>
        <p:nvSpPr>
          <p:cNvPr id="1828252537" name="Text 20"/>
          <p:cNvSpPr txBox="1"/>
          <p:nvPr/>
        </p:nvSpPr>
        <p:spPr bwMode="auto">
          <a:xfrm>
            <a:off x="4087368" y="39776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chemeClr val="tx1"/>
                </a:solidFill>
              </a:rPr>
              <a:t>No se sabe qué se afecta al cambiar o retirar un componente</a:t>
            </a:r>
            <a:endParaRPr lang="en-US" sz="1200"/>
          </a:p>
        </p:txBody>
      </p:sp>
      <p:sp>
        <p:nvSpPr>
          <p:cNvPr id="1061367434" name="Shadow IT y dark data círculo"/>
          <p:cNvSpPr/>
          <p:nvPr/>
        </p:nvSpPr>
        <p:spPr bwMode="auto">
          <a:xfrm>
            <a:off x="6172200" y="3694176"/>
            <a:ext cx="457200" cy="457200"/>
          </a:xfrm>
          <a:prstGeom prst="ellipse">
            <a:avLst/>
          </a:prstGeom>
          <a:solidFill>
            <a:srgbClr val="C4533A"/>
          </a:solidFill>
          <a:ln w="12700">
            <a:solidFill>
              <a:srgbClr val="C4533A"/>
            </a:solidFill>
            <a:prstDash val="solid"/>
          </a:ln>
        </p:spPr>
      </p:sp>
      <p:pic>
        <p:nvPicPr>
          <p:cNvPr id="1882825132" name="Shadow IT y dark data icono" descr="Shadow IT y dark data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6286500" y="3808476"/>
            <a:ext cx="228600" cy="228600"/>
          </a:xfrm>
          <a:prstGeom prst="rect">
            <a:avLst/>
          </a:prstGeom>
        </p:spPr>
      </p:pic>
      <p:sp>
        <p:nvSpPr>
          <p:cNvPr id="1580814348" name="Text 22"/>
          <p:cNvSpPr txBox="1"/>
          <p:nvPr/>
        </p:nvSpPr>
        <p:spPr bwMode="auto">
          <a:xfrm>
            <a:off x="6739128" y="364845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 b="1">
                <a:solidFill>
                  <a:schemeClr val="tx2"/>
                </a:solidFill>
              </a:rPr>
              <a:t>Shadow IT y dark data</a:t>
            </a:r>
            <a:endParaRPr lang="en-US" sz="1500"/>
          </a:p>
        </p:txBody>
      </p:sp>
      <p:sp>
        <p:nvSpPr>
          <p:cNvPr id="1633938796" name="Text 23"/>
          <p:cNvSpPr txBox="1"/>
          <p:nvPr/>
        </p:nvSpPr>
        <p:spPr bwMode="auto">
          <a:xfrm>
            <a:off x="6739128" y="39776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chemeClr val="tx1"/>
                </a:solidFill>
              </a:rPr>
              <a:t>Sistemas y contratos fuera de la visibilidad formal de TI</a:t>
            </a:r>
            <a:endParaRPr lang="en-US" sz="1200"/>
          </a:p>
        </p:txBody>
      </p:sp>
      <p:sp>
        <p:nvSpPr>
          <p:cNvPr id="1665747958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8229600" y="475488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860201" name="Text 0"/>
          <p:cNvSpPr/>
          <p:nvPr>
            <p:ph type="title" idx="100" hasCustomPrompt="1"/>
          </p:nvPr>
        </p:nvSpPr>
        <p:spPr bwMode="auto"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2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Arquitectura del problema</a:t>
            </a:r>
            <a:endParaRPr lang="en-US" sz="3200"/>
          </a:p>
        </p:txBody>
      </p:sp>
      <p:sp>
        <p:nvSpPr>
          <p:cNvPr id="1572149954" name="Text 0"/>
          <p:cNvSpPr/>
          <p:nvPr>
            <p:ph type="body" idx="101" hasCustomPrompt="1"/>
          </p:nvPr>
        </p:nvSpPr>
        <p:spPr bwMode="auto">
          <a:xfrm>
            <a:off x="457200" y="85953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/>
            </a:pPr>
            <a:r>
              <a:rPr lang="en-US" sz="1600">
                <a:solidFill>
                  <a:schemeClr val="accent3"/>
                </a:solidFill>
                <a:latin typeface="Calibri"/>
                <a:ea typeface="Calibri"/>
                <a:cs typeface="Calibri"/>
              </a:rPr>
              <a:t>Fuentes fragmentadas que llegan al equipo por trabajo manual</a:t>
            </a:r>
            <a:endParaRPr lang="en-US" sz="1600"/>
          </a:p>
        </p:txBody>
      </p:sp>
      <p:sp>
        <p:nvSpPr>
          <p:cNvPr id="1206789279" name="fuente 1"/>
          <p:cNvSpPr/>
          <p:nvPr/>
        </p:nvSpPr>
        <p:spPr bwMode="auto">
          <a:xfrm>
            <a:off x="457200" y="1371600"/>
            <a:ext cx="2240280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blurRad="76200" dist="25400" dir="5400000" sx="100000" sy="100000" kx="0" ky="0" algn="bl" rotWithShape="0">
              <a:srgbClr val="0B3C49">
                <a:alpha val="14000"/>
              </a:srgbClr>
            </a:outerShdw>
          </a:effectLst>
        </p:spPr>
      </p:sp>
      <p:sp>
        <p:nvSpPr>
          <p:cNvPr id="1991629482" name="Hojas de cálculo (Excel) círculo"/>
          <p:cNvSpPr/>
          <p:nvPr/>
        </p:nvSpPr>
        <p:spPr bwMode="auto">
          <a:xfrm>
            <a:off x="548640" y="1444752"/>
            <a:ext cx="365760" cy="365760"/>
          </a:xfrm>
          <a:prstGeom prst="ellipse">
            <a:avLst/>
          </a:prstGeom>
          <a:solidFill>
            <a:srgbClr val="5F7480"/>
          </a:solidFill>
          <a:ln w="12700">
            <a:solidFill>
              <a:srgbClr val="5F7480"/>
            </a:solidFill>
            <a:prstDash val="solid"/>
          </a:ln>
        </p:spPr>
      </p:sp>
      <p:pic>
        <p:nvPicPr>
          <p:cNvPr id="206212813" name="Hojas de cálculo (Excel) icono" descr="Hojas de cálculo (Excel)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40080" y="1536192"/>
            <a:ext cx="182880" cy="182880"/>
          </a:xfrm>
          <a:prstGeom prst="rect">
            <a:avLst/>
          </a:prstGeom>
        </p:spPr>
      </p:pic>
      <p:sp>
        <p:nvSpPr>
          <p:cNvPr id="931108008" name="Text 4"/>
          <p:cNvSpPr txBox="1"/>
          <p:nvPr/>
        </p:nvSpPr>
        <p:spPr bwMode="auto">
          <a:xfrm>
            <a:off x="1005840" y="137160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chemeClr val="tx2"/>
                </a:solidFill>
              </a:rPr>
              <a:t>Hojas de cálculo (Excel)</a:t>
            </a:r>
            <a:endParaRPr lang="en-US" sz="1200"/>
          </a:p>
        </p:txBody>
      </p:sp>
      <p:sp>
        <p:nvSpPr>
          <p:cNvPr id="214033277" name="copia manual 1"/>
          <p:cNvSpPr/>
          <p:nvPr/>
        </p:nvSpPr>
        <p:spPr bwMode="auto">
          <a:xfrm>
            <a:off x="2697480" y="1627632"/>
            <a:ext cx="731520" cy="1275588"/>
          </a:xfrm>
          <a:prstGeom prst="line">
            <a:avLst/>
          </a:prstGeom>
          <a:noFill/>
          <a:ln w="15875">
            <a:solidFill>
              <a:srgbClr val="C4533A"/>
            </a:solidFill>
            <a:prstDash val="dash"/>
            <a:tailEnd type="triangle"/>
          </a:ln>
        </p:spPr>
      </p:sp>
      <p:sp>
        <p:nvSpPr>
          <p:cNvPr id="131870157" name="fuente 2"/>
          <p:cNvSpPr/>
          <p:nvPr/>
        </p:nvSpPr>
        <p:spPr bwMode="auto">
          <a:xfrm>
            <a:off x="457200" y="2011680"/>
            <a:ext cx="2240280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blurRad="76200" dist="25400" dir="5400000" sx="100000" sy="100000" kx="0" ky="0" algn="bl" rotWithShape="0">
              <a:srgbClr val="0B3C49">
                <a:alpha val="14000"/>
              </a:srgbClr>
            </a:outerShdw>
          </a:effectLst>
        </p:spPr>
      </p:sp>
      <p:sp>
        <p:nvSpPr>
          <p:cNvPr id="574565868" name="CMDB de infraestructura círculo"/>
          <p:cNvSpPr/>
          <p:nvPr/>
        </p:nvSpPr>
        <p:spPr bwMode="auto">
          <a:xfrm>
            <a:off x="548640" y="2084832"/>
            <a:ext cx="365760" cy="365760"/>
          </a:xfrm>
          <a:prstGeom prst="ellipse">
            <a:avLst/>
          </a:prstGeom>
          <a:solidFill>
            <a:srgbClr val="5F7480"/>
          </a:solidFill>
          <a:ln w="12700">
            <a:solidFill>
              <a:srgbClr val="5F7480"/>
            </a:solidFill>
            <a:prstDash val="solid"/>
          </a:ln>
        </p:spPr>
      </p:sp>
      <p:pic>
        <p:nvPicPr>
          <p:cNvPr id="1177437106" name="CMDB de infraestructura icono" descr="CMDB de infraestructura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40080" y="2176272"/>
            <a:ext cx="182880" cy="182880"/>
          </a:xfrm>
          <a:prstGeom prst="rect">
            <a:avLst/>
          </a:prstGeom>
        </p:spPr>
      </p:pic>
      <p:sp>
        <p:nvSpPr>
          <p:cNvPr id="758259776" name="Text 8"/>
          <p:cNvSpPr txBox="1"/>
          <p:nvPr/>
        </p:nvSpPr>
        <p:spPr bwMode="auto">
          <a:xfrm>
            <a:off x="1005840" y="201168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chemeClr val="tx2"/>
                </a:solidFill>
              </a:rPr>
              <a:t>CMDB de infraestructura</a:t>
            </a:r>
            <a:endParaRPr lang="en-US" sz="1200"/>
          </a:p>
        </p:txBody>
      </p:sp>
      <p:sp>
        <p:nvSpPr>
          <p:cNvPr id="1379565435" name="copia manual 2"/>
          <p:cNvSpPr/>
          <p:nvPr/>
        </p:nvSpPr>
        <p:spPr bwMode="auto">
          <a:xfrm>
            <a:off x="2697480" y="2267712"/>
            <a:ext cx="731520" cy="635508"/>
          </a:xfrm>
          <a:prstGeom prst="line">
            <a:avLst/>
          </a:prstGeom>
          <a:noFill/>
          <a:ln w="15875">
            <a:solidFill>
              <a:srgbClr val="C4533A"/>
            </a:solidFill>
            <a:prstDash val="dash"/>
            <a:tailEnd type="triangle"/>
          </a:ln>
        </p:spPr>
      </p:sp>
      <p:sp>
        <p:nvSpPr>
          <p:cNvPr id="814569671" name="fuente 3"/>
          <p:cNvSpPr/>
          <p:nvPr/>
        </p:nvSpPr>
        <p:spPr bwMode="auto">
          <a:xfrm>
            <a:off x="457200" y="2651760"/>
            <a:ext cx="2240280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blurRad="76200" dist="25400" dir="5400000" sx="100000" sy="100000" kx="0" ky="0" algn="bl" rotWithShape="0">
              <a:srgbClr val="0B3C49">
                <a:alpha val="14000"/>
              </a:srgbClr>
            </a:outerShdw>
          </a:effectLst>
        </p:spPr>
      </p:sp>
      <p:sp>
        <p:nvSpPr>
          <p:cNvPr id="1549959260" name="Repositorios y CI/CD círculo"/>
          <p:cNvSpPr/>
          <p:nvPr/>
        </p:nvSpPr>
        <p:spPr bwMode="auto">
          <a:xfrm>
            <a:off x="548640" y="2724911"/>
            <a:ext cx="365760" cy="365760"/>
          </a:xfrm>
          <a:prstGeom prst="ellipse">
            <a:avLst/>
          </a:prstGeom>
          <a:solidFill>
            <a:srgbClr val="5F7480"/>
          </a:solidFill>
          <a:ln w="12700">
            <a:solidFill>
              <a:srgbClr val="5F7480"/>
            </a:solidFill>
            <a:prstDash val="solid"/>
          </a:ln>
        </p:spPr>
      </p:sp>
      <p:pic>
        <p:nvPicPr>
          <p:cNvPr id="1158115964" name="Repositorios y CI/CD icono" descr="Repositorios y CI/CD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40080" y="2816352"/>
            <a:ext cx="182880" cy="182880"/>
          </a:xfrm>
          <a:prstGeom prst="rect">
            <a:avLst/>
          </a:prstGeom>
        </p:spPr>
      </p:pic>
      <p:sp>
        <p:nvSpPr>
          <p:cNvPr id="1563015125" name="Text 12"/>
          <p:cNvSpPr txBox="1"/>
          <p:nvPr/>
        </p:nvSpPr>
        <p:spPr bwMode="auto">
          <a:xfrm>
            <a:off x="1005840" y="265176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chemeClr val="tx2"/>
                </a:solidFill>
              </a:rPr>
              <a:t>Repositorios y CI/CD</a:t>
            </a:r>
            <a:endParaRPr lang="en-US" sz="1200"/>
          </a:p>
        </p:txBody>
      </p:sp>
      <p:sp>
        <p:nvSpPr>
          <p:cNvPr id="501600283" name="copia manual 3"/>
          <p:cNvSpPr/>
          <p:nvPr/>
        </p:nvSpPr>
        <p:spPr bwMode="auto">
          <a:xfrm flipV="1">
            <a:off x="2697480" y="2903220"/>
            <a:ext cx="731520" cy="4572"/>
          </a:xfrm>
          <a:prstGeom prst="line">
            <a:avLst/>
          </a:prstGeom>
          <a:noFill/>
          <a:ln w="15875">
            <a:solidFill>
              <a:srgbClr val="C4533A"/>
            </a:solidFill>
            <a:prstDash val="dash"/>
            <a:tailEnd type="triangle"/>
          </a:ln>
        </p:spPr>
      </p:sp>
      <p:sp>
        <p:nvSpPr>
          <p:cNvPr id="194650845" name="fuente 4"/>
          <p:cNvSpPr/>
          <p:nvPr/>
        </p:nvSpPr>
        <p:spPr bwMode="auto">
          <a:xfrm>
            <a:off x="457200" y="3291840"/>
            <a:ext cx="2240280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blurRad="76200" dist="25400" dir="5400000" sx="100000" sy="100000" kx="0" ky="0" algn="bl" rotWithShape="0">
              <a:srgbClr val="0B3C49">
                <a:alpha val="14000"/>
              </a:srgbClr>
            </a:outerShdw>
          </a:effectLst>
        </p:spPr>
      </p:sp>
      <p:sp>
        <p:nvSpPr>
          <p:cNvPr id="753382255" name="Contratos y TDRs círculo"/>
          <p:cNvSpPr/>
          <p:nvPr/>
        </p:nvSpPr>
        <p:spPr bwMode="auto">
          <a:xfrm>
            <a:off x="548640" y="3364992"/>
            <a:ext cx="365760" cy="365760"/>
          </a:xfrm>
          <a:prstGeom prst="ellipse">
            <a:avLst/>
          </a:prstGeom>
          <a:solidFill>
            <a:srgbClr val="5F7480"/>
          </a:solidFill>
          <a:ln w="12700">
            <a:solidFill>
              <a:srgbClr val="5F7480"/>
            </a:solidFill>
            <a:prstDash val="solid"/>
          </a:ln>
        </p:spPr>
      </p:sp>
      <p:pic>
        <p:nvPicPr>
          <p:cNvPr id="1893530253" name="Contratos y TDRs icono" descr="Contratos y TDRs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640080" y="3456432"/>
            <a:ext cx="182880" cy="182880"/>
          </a:xfrm>
          <a:prstGeom prst="rect">
            <a:avLst/>
          </a:prstGeom>
        </p:spPr>
      </p:pic>
      <p:sp>
        <p:nvSpPr>
          <p:cNvPr id="878190757" name="Text 16"/>
          <p:cNvSpPr txBox="1"/>
          <p:nvPr/>
        </p:nvSpPr>
        <p:spPr bwMode="auto">
          <a:xfrm>
            <a:off x="1005840" y="329184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chemeClr val="tx2"/>
                </a:solidFill>
              </a:rPr>
              <a:t>Contratos y TDRs</a:t>
            </a:r>
            <a:endParaRPr lang="en-US" sz="1200"/>
          </a:p>
        </p:txBody>
      </p:sp>
      <p:sp>
        <p:nvSpPr>
          <p:cNvPr id="782993394" name="copia manual 4"/>
          <p:cNvSpPr/>
          <p:nvPr/>
        </p:nvSpPr>
        <p:spPr bwMode="auto">
          <a:xfrm flipV="1">
            <a:off x="2697480" y="2903220"/>
            <a:ext cx="731520" cy="644652"/>
          </a:xfrm>
          <a:prstGeom prst="line">
            <a:avLst/>
          </a:prstGeom>
          <a:noFill/>
          <a:ln w="15875">
            <a:solidFill>
              <a:srgbClr val="C4533A"/>
            </a:solidFill>
            <a:prstDash val="dash"/>
            <a:tailEnd type="triangle"/>
          </a:ln>
        </p:spPr>
      </p:sp>
      <p:sp>
        <p:nvSpPr>
          <p:cNvPr id="1552176633" name="fuente 5"/>
          <p:cNvSpPr/>
          <p:nvPr/>
        </p:nvSpPr>
        <p:spPr bwMode="auto">
          <a:xfrm>
            <a:off x="457200" y="3931920"/>
            <a:ext cx="2240280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blurRad="76200" dist="25400" dir="5400000" sx="100000" sy="100000" kx="0" ky="0" algn="bl" rotWithShape="0">
              <a:srgbClr val="0B3C49">
                <a:alpha val="14000"/>
              </a:srgbClr>
            </a:outerShdw>
          </a:effectLst>
        </p:spPr>
      </p:sp>
      <p:sp>
        <p:nvSpPr>
          <p:cNvPr id="805337731" name="Conocimiento de personas círculo"/>
          <p:cNvSpPr/>
          <p:nvPr/>
        </p:nvSpPr>
        <p:spPr bwMode="auto">
          <a:xfrm>
            <a:off x="548640" y="4005072"/>
            <a:ext cx="365760" cy="365760"/>
          </a:xfrm>
          <a:prstGeom prst="ellipse">
            <a:avLst/>
          </a:prstGeom>
          <a:solidFill>
            <a:srgbClr val="5F7480"/>
          </a:solidFill>
          <a:ln w="12700">
            <a:solidFill>
              <a:srgbClr val="5F7480"/>
            </a:solidFill>
            <a:prstDash val="solid"/>
          </a:ln>
        </p:spPr>
      </p:sp>
      <p:pic>
        <p:nvPicPr>
          <p:cNvPr id="1705251001" name="Conocimiento de personas icono" descr="Conocimiento de personas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640080" y="4096512"/>
            <a:ext cx="182880" cy="182880"/>
          </a:xfrm>
          <a:prstGeom prst="rect">
            <a:avLst/>
          </a:prstGeom>
        </p:spPr>
      </p:pic>
      <p:sp>
        <p:nvSpPr>
          <p:cNvPr id="898375142" name="Text 20"/>
          <p:cNvSpPr txBox="1"/>
          <p:nvPr/>
        </p:nvSpPr>
        <p:spPr bwMode="auto">
          <a:xfrm>
            <a:off x="1005840" y="393192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chemeClr val="tx2"/>
                </a:solidFill>
              </a:rPr>
              <a:t>Conocimiento de personas</a:t>
            </a:r>
            <a:endParaRPr lang="en-US" sz="1200"/>
          </a:p>
        </p:txBody>
      </p:sp>
      <p:sp>
        <p:nvSpPr>
          <p:cNvPr id="1378232172" name="copia manual 5"/>
          <p:cNvSpPr/>
          <p:nvPr/>
        </p:nvSpPr>
        <p:spPr bwMode="auto">
          <a:xfrm flipV="1">
            <a:off x="2697480" y="2903220"/>
            <a:ext cx="731520" cy="1284732"/>
          </a:xfrm>
          <a:prstGeom prst="line">
            <a:avLst/>
          </a:prstGeom>
          <a:noFill/>
          <a:ln w="15875">
            <a:solidFill>
              <a:srgbClr val="C4533A"/>
            </a:solidFill>
            <a:prstDash val="dash"/>
            <a:tailEnd type="triangle"/>
          </a:ln>
        </p:spPr>
      </p:sp>
      <p:sp>
        <p:nvSpPr>
          <p:cNvPr id="434531977" name="consolidación manual"/>
          <p:cNvSpPr/>
          <p:nvPr/>
        </p:nvSpPr>
        <p:spPr bwMode="auto">
          <a:xfrm>
            <a:off x="3429000" y="1783080"/>
            <a:ext cx="2148840" cy="2240280"/>
          </a:xfrm>
          <a:prstGeom prst="roundRect">
            <a:avLst>
              <a:gd name="adj" fmla="val 4255"/>
            </a:avLst>
          </a:prstGeom>
          <a:solidFill>
            <a:schemeClr val="accent4">
              <a:alpha val="15000"/>
            </a:schemeClr>
          </a:solidFill>
          <a:ln w="19050">
            <a:solidFill>
              <a:schemeClr val="accent4"/>
            </a:solidFill>
            <a:prstDash val="dash"/>
          </a:ln>
        </p:spPr>
      </p:sp>
      <p:sp>
        <p:nvSpPr>
          <p:cNvPr id="237815100" name="consolidación círculo"/>
          <p:cNvSpPr/>
          <p:nvPr/>
        </p:nvSpPr>
        <p:spPr bwMode="auto">
          <a:xfrm>
            <a:off x="3611880" y="1965960"/>
            <a:ext cx="457200" cy="457200"/>
          </a:xfrm>
          <a:prstGeom prst="ellipse">
            <a:avLst/>
          </a:prstGeom>
          <a:solidFill>
            <a:srgbClr val="C4533A"/>
          </a:solidFill>
          <a:ln w="12700">
            <a:solidFill>
              <a:srgbClr val="C4533A"/>
            </a:solidFill>
            <a:prstDash val="solid"/>
          </a:ln>
        </p:spPr>
      </p:sp>
      <p:pic>
        <p:nvPicPr>
          <p:cNvPr id="948230905" name="consolidación icono" descr="consolidación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3726180" y="2080259"/>
            <a:ext cx="228600" cy="228600"/>
          </a:xfrm>
          <a:prstGeom prst="rect">
            <a:avLst/>
          </a:prstGeom>
        </p:spPr>
      </p:pic>
      <p:sp>
        <p:nvSpPr>
          <p:cNvPr id="206716293" name="Text 24"/>
          <p:cNvSpPr txBox="1"/>
          <p:nvPr/>
        </p:nvSpPr>
        <p:spPr bwMode="auto">
          <a:xfrm>
            <a:off x="4160519" y="196596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chemeClr val="tx2"/>
                </a:solidFill>
              </a:rPr>
              <a:t>Consolidación manual</a:t>
            </a:r>
            <a:endParaRPr lang="en-US" sz="1400"/>
          </a:p>
        </p:txBody>
      </p:sp>
      <p:sp>
        <p:nvSpPr>
          <p:cNvPr id="1299788319" name="Text 25"/>
          <p:cNvSpPr txBox="1"/>
          <p:nvPr/>
        </p:nvSpPr>
        <p:spPr bwMode="auto">
          <a:xfrm>
            <a:off x="3611880" y="256032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  <a:defRPr/>
            </a:pPr>
            <a:r>
              <a:rPr lang="en-US" sz="1200">
                <a:solidFill>
                  <a:schemeClr val="tx1"/>
                </a:solidFill>
              </a:rPr>
              <a:t>Copiar y pegar entre planillas</a:t>
            </a:r>
            <a:endParaRPr lang="en-US" sz="1200"/>
          </a:p>
          <a:p>
            <a:pPr marL="152400" indent="-152400">
              <a:spcAft>
                <a:spcPts val="600"/>
              </a:spcAft>
              <a:buSzPct val="100000"/>
              <a:buChar char="•"/>
              <a:defRPr/>
            </a:pPr>
            <a:r>
              <a:rPr lang="en-US" sz="1200">
                <a:solidFill>
                  <a:schemeClr val="tx1"/>
                </a:solidFill>
              </a:rPr>
              <a:t>Correos y reuniones de seguimiento</a:t>
            </a:r>
            <a:endParaRPr lang="en-US" sz="1200"/>
          </a:p>
          <a:p>
            <a:pPr marL="152400" indent="-152400">
              <a:spcAft>
                <a:spcPts val="600"/>
              </a:spcAft>
              <a:buSzPct val="100000"/>
              <a:buChar char="•"/>
              <a:defRPr/>
            </a:pPr>
            <a:r>
              <a:rPr lang="en-US" sz="1200">
                <a:solidFill>
                  <a:schemeClr val="tx1"/>
                </a:solidFill>
              </a:rPr>
              <a:t>Cuestionarios largos a los equipos</a:t>
            </a:r>
            <a:endParaRPr lang="en-US" sz="1200"/>
          </a:p>
        </p:txBody>
      </p:sp>
      <p:sp>
        <p:nvSpPr>
          <p:cNvPr id="1324810783" name="equipo arquitectura"/>
          <p:cNvSpPr/>
          <p:nvPr/>
        </p:nvSpPr>
        <p:spPr bwMode="auto">
          <a:xfrm>
            <a:off x="6035039" y="1371600"/>
            <a:ext cx="2651760" cy="1005840"/>
          </a:xfrm>
          <a:prstGeom prst="roundRect">
            <a:avLst>
              <a:gd name="adj" fmla="val 909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sx="100000" sy="100000" kx="0" ky="0" algn="bl" rotWithShape="0">
              <a:srgbClr val="0B3C49">
                <a:alpha val="14000"/>
              </a:srgbClr>
            </a:outerShdw>
          </a:effectLst>
        </p:spPr>
      </p:sp>
      <p:sp>
        <p:nvSpPr>
          <p:cNvPr id="1224832148" name="equipo círculo"/>
          <p:cNvSpPr/>
          <p:nvPr/>
        </p:nvSpPr>
        <p:spPr bwMode="auto">
          <a:xfrm>
            <a:off x="6217920" y="1600200"/>
            <a:ext cx="548640" cy="54864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83322387" name="equipo icono" descr="equipo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6355080" y="1737360"/>
            <a:ext cx="274320" cy="274320"/>
          </a:xfrm>
          <a:prstGeom prst="rect">
            <a:avLst/>
          </a:prstGeom>
        </p:spPr>
      </p:pic>
      <p:sp>
        <p:nvSpPr>
          <p:cNvPr id="929956634" name="Text 28"/>
          <p:cNvSpPr txBox="1"/>
          <p:nvPr/>
        </p:nvSpPr>
        <p:spPr bwMode="auto">
          <a:xfrm>
            <a:off x="6903720" y="137160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chemeClr val="bg1"/>
                </a:solidFill>
              </a:rPr>
              <a:t>Equipo de Arquitectura TI</a:t>
            </a:r>
            <a:endParaRPr lang="en-US" sz="1400"/>
          </a:p>
          <a:p>
            <a:pPr marL="0" indent="0">
              <a:buNone/>
              <a:defRPr/>
            </a:pPr>
            <a:r>
              <a:rPr lang="en-US" sz="1100">
                <a:solidFill>
                  <a:schemeClr val="accent6"/>
                </a:solidFill>
              </a:rPr>
              <a:t>cuello de botella del registro</a:t>
            </a:r>
            <a:endParaRPr lang="en-US" sz="1400"/>
          </a:p>
        </p:txBody>
      </p:sp>
      <p:sp>
        <p:nvSpPr>
          <p:cNvPr id="166278524" name="hacia equipo"/>
          <p:cNvSpPr/>
          <p:nvPr/>
        </p:nvSpPr>
        <p:spPr bwMode="auto">
          <a:xfrm flipV="1">
            <a:off x="5577840" y="1874520"/>
            <a:ext cx="457200" cy="1028700"/>
          </a:xfrm>
          <a:prstGeom prst="line">
            <a:avLst/>
          </a:prstGeom>
          <a:noFill/>
          <a:ln w="22225">
            <a:solidFill>
              <a:srgbClr val="C4533A"/>
            </a:solidFill>
            <a:prstDash val="solid"/>
            <a:tailEnd type="triangle"/>
          </a:ln>
        </p:spPr>
      </p:sp>
      <p:sp>
        <p:nvSpPr>
          <p:cNvPr id="1662414122" name="hacia resultado"/>
          <p:cNvSpPr/>
          <p:nvPr/>
        </p:nvSpPr>
        <p:spPr bwMode="auto">
          <a:xfrm>
            <a:off x="7360920" y="2377440"/>
            <a:ext cx="914" cy="457200"/>
          </a:xfrm>
          <a:prstGeom prst="line">
            <a:avLst/>
          </a:prstGeom>
          <a:noFill/>
          <a:ln w="22225">
            <a:solidFill>
              <a:srgbClr val="C4533A"/>
            </a:solidFill>
            <a:prstDash val="solid"/>
            <a:tailEnd type="triangle"/>
          </a:ln>
        </p:spPr>
      </p:sp>
      <p:sp>
        <p:nvSpPr>
          <p:cNvPr id="737333161" name="resultado"/>
          <p:cNvSpPr/>
          <p:nvPr/>
        </p:nvSpPr>
        <p:spPr bwMode="auto">
          <a:xfrm>
            <a:off x="6035039" y="2834640"/>
            <a:ext cx="2651760" cy="160020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19050">
            <a:solidFill>
              <a:schemeClr val="accent4"/>
            </a:solidFill>
            <a:prstDash val="solid"/>
          </a:ln>
          <a:effectLst>
            <a:outerShdw blurRad="76200" dist="25400" dir="5400000" sx="100000" sy="100000" kx="0" ky="0" algn="bl" rotWithShape="0">
              <a:srgbClr val="0B3C49">
                <a:alpha val="14000"/>
              </a:srgbClr>
            </a:outerShdw>
          </a:effectLst>
        </p:spPr>
      </p:sp>
      <p:sp>
        <p:nvSpPr>
          <p:cNvPr id="1060247541" name="Text 32"/>
          <p:cNvSpPr txBox="1"/>
          <p:nvPr/>
        </p:nvSpPr>
        <p:spPr bwMode="auto">
          <a:xfrm>
            <a:off x="6217920" y="2926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chemeClr val="accent4"/>
                </a:solidFill>
              </a:rPr>
              <a:t>Catálogo desactualizado</a:t>
            </a:r>
            <a:endParaRPr lang="en-US" sz="1400"/>
          </a:p>
        </p:txBody>
      </p:sp>
      <p:sp>
        <p:nvSpPr>
          <p:cNvPr id="2119220455" name="Text 33"/>
          <p:cNvSpPr txBox="1"/>
          <p:nvPr/>
        </p:nvSpPr>
        <p:spPr bwMode="auto">
          <a:xfrm>
            <a:off x="6217920" y="333756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  <a:defRPr/>
            </a:pPr>
            <a:r>
              <a:rPr lang="en-US" sz="1200">
                <a:solidFill>
                  <a:schemeClr val="tx1"/>
                </a:solidFill>
              </a:rPr>
              <a:t>Sin trazabilidad de cambios</a:t>
            </a:r>
            <a:endParaRPr lang="en-US" sz="1200"/>
          </a:p>
          <a:p>
            <a:pPr marL="152400" indent="-152400">
              <a:spcAft>
                <a:spcPts val="400"/>
              </a:spcAft>
              <a:buSzPct val="100000"/>
              <a:buChar char="•"/>
              <a:defRPr/>
            </a:pPr>
            <a:r>
              <a:rPr lang="en-US" sz="1200">
                <a:solidFill>
                  <a:schemeClr val="tx1"/>
                </a:solidFill>
              </a:rPr>
              <a:t>CVE y EOL sin correlacionar</a:t>
            </a:r>
            <a:endParaRPr lang="en-US" sz="1200"/>
          </a:p>
          <a:p>
            <a:pPr marL="152400" indent="-152400">
              <a:spcAft>
                <a:spcPts val="400"/>
              </a:spcAft>
              <a:buSzPct val="100000"/>
              <a:buChar char="•"/>
              <a:defRPr/>
            </a:pPr>
            <a:r>
              <a:rPr lang="en-US" sz="1200">
                <a:solidFill>
                  <a:schemeClr val="tx1"/>
                </a:solidFill>
              </a:rPr>
              <a:t>Impacto de cambios invisible</a:t>
            </a:r>
            <a:endParaRPr lang="en-US" sz="1200"/>
          </a:p>
        </p:txBody>
      </p:sp>
      <p:sp>
        <p:nvSpPr>
          <p:cNvPr id="2107791170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8229600" y="475488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6840535" name="Text 0"/>
          <p:cNvSpPr/>
          <p:nvPr>
            <p:ph type="title" idx="100" hasCustomPrompt="1"/>
          </p:nvPr>
        </p:nvSpPr>
        <p:spPr bwMode="auto"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2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Herramientas de la solución</a:t>
            </a:r>
            <a:endParaRPr lang="en-US" sz="3200"/>
          </a:p>
        </p:txBody>
      </p:sp>
      <p:sp>
        <p:nvSpPr>
          <p:cNvPr id="2110376473" name="Text 0"/>
          <p:cNvSpPr/>
          <p:nvPr>
            <p:ph type="body" idx="101" hasCustomPrompt="1"/>
          </p:nvPr>
        </p:nvSpPr>
        <p:spPr bwMode="auto">
          <a:xfrm>
            <a:off x="457200" y="85953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/>
            </a:pPr>
            <a:r>
              <a:rPr lang="en-US" sz="1600">
                <a:solidFill>
                  <a:schemeClr val="accent3"/>
                </a:solidFill>
                <a:latin typeface="Calibri"/>
                <a:ea typeface="Calibri"/>
                <a:cs typeface="Calibri"/>
              </a:rPr>
              <a:t>Seis piezas que convierten datos dispersos en un catálogo gobernado</a:t>
            </a:r>
            <a:endParaRPr lang="en-US" sz="1600"/>
          </a:p>
        </p:txBody>
      </p:sp>
      <p:sp>
        <p:nvSpPr>
          <p:cNvPr id="1293850216" name="tarjeta Pipeline de agentes"/>
          <p:cNvSpPr/>
          <p:nvPr/>
        </p:nvSpPr>
        <p:spPr bwMode="auto">
          <a:xfrm>
            <a:off x="457200" y="1417320"/>
            <a:ext cx="2560320" cy="137160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76200" dist="25400" dir="5400000" sx="100000" sy="100000" kx="0" ky="0" algn="bl" rotWithShape="0">
              <a:srgbClr val="0B3C49">
                <a:alpha val="14000"/>
              </a:srgbClr>
            </a:outerShdw>
          </a:effectLst>
        </p:spPr>
      </p:sp>
      <p:sp>
        <p:nvSpPr>
          <p:cNvPr id="683959639" name="Pipeline de agentes círculo"/>
          <p:cNvSpPr/>
          <p:nvPr/>
        </p:nvSpPr>
        <p:spPr bwMode="auto">
          <a:xfrm>
            <a:off x="640080" y="1563624"/>
            <a:ext cx="457200" cy="4572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557770709" name="Pipeline de agentes icono" descr="Pipeline de agentes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54379" y="1677924"/>
            <a:ext cx="228600" cy="228600"/>
          </a:xfrm>
          <a:prstGeom prst="rect">
            <a:avLst/>
          </a:prstGeom>
        </p:spPr>
      </p:pic>
      <p:sp>
        <p:nvSpPr>
          <p:cNvPr id="1093971632" name="Text 4"/>
          <p:cNvSpPr txBox="1"/>
          <p:nvPr/>
        </p:nvSpPr>
        <p:spPr bwMode="auto">
          <a:xfrm>
            <a:off x="1207008" y="1563624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chemeClr val="tx2"/>
                </a:solidFill>
              </a:rPr>
              <a:t>Pipeline de agentes</a:t>
            </a:r>
            <a:endParaRPr lang="en-US" sz="1500"/>
          </a:p>
        </p:txBody>
      </p:sp>
      <p:sp>
        <p:nvSpPr>
          <p:cNvPr id="774442036" name="Text 5"/>
          <p:cNvSpPr txBox="1"/>
          <p:nvPr/>
        </p:nvSpPr>
        <p:spPr bwMode="auto">
          <a:xfrm>
            <a:off x="640080" y="2112264"/>
            <a:ext cx="2231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100">
                <a:solidFill>
                  <a:schemeClr val="tx1"/>
                </a:solidFill>
              </a:rPr>
              <a:t>Cuatro agentes: Code-to-Catalog, Dark Data Miner, Reconciliador y Micro-Nudge</a:t>
            </a:r>
            <a:endParaRPr lang="en-US" sz="1100"/>
          </a:p>
        </p:txBody>
      </p:sp>
      <p:sp>
        <p:nvSpPr>
          <p:cNvPr id="1025483814" name="tarjeta Minería de contratos"/>
          <p:cNvSpPr/>
          <p:nvPr/>
        </p:nvSpPr>
        <p:spPr bwMode="auto">
          <a:xfrm>
            <a:off x="3291840" y="1417320"/>
            <a:ext cx="2560320" cy="137160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76200" dist="25400" dir="5400000" sx="100000" sy="100000" kx="0" ky="0" algn="bl" rotWithShape="0">
              <a:srgbClr val="0B3C49">
                <a:alpha val="14000"/>
              </a:srgbClr>
            </a:outerShdw>
          </a:effectLst>
        </p:spPr>
      </p:sp>
      <p:sp>
        <p:nvSpPr>
          <p:cNvPr id="362160351" name="Minería de contratos círculo"/>
          <p:cNvSpPr/>
          <p:nvPr/>
        </p:nvSpPr>
        <p:spPr bwMode="auto">
          <a:xfrm>
            <a:off x="3474720" y="1563624"/>
            <a:ext cx="457200" cy="457200"/>
          </a:xfrm>
          <a:prstGeom prst="ellipse">
            <a:avLst/>
          </a:prstGeom>
          <a:solidFill>
            <a:srgbClr val="127C86"/>
          </a:solidFill>
          <a:ln w="12700">
            <a:solidFill>
              <a:srgbClr val="127C86"/>
            </a:solidFill>
            <a:prstDash val="solid"/>
          </a:ln>
        </p:spPr>
      </p:sp>
      <p:pic>
        <p:nvPicPr>
          <p:cNvPr id="1204978834" name="Minería de contratos icono" descr="Minería de contratos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589019" y="1677924"/>
            <a:ext cx="228600" cy="228600"/>
          </a:xfrm>
          <a:prstGeom prst="rect">
            <a:avLst/>
          </a:prstGeom>
        </p:spPr>
      </p:pic>
      <p:sp>
        <p:nvSpPr>
          <p:cNvPr id="1496917983" name="Text 8"/>
          <p:cNvSpPr txBox="1"/>
          <p:nvPr/>
        </p:nvSpPr>
        <p:spPr bwMode="auto">
          <a:xfrm>
            <a:off x="4041648" y="1563624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chemeClr val="tx2"/>
                </a:solidFill>
              </a:rPr>
              <a:t>Minería de contratos</a:t>
            </a:r>
            <a:endParaRPr lang="en-US" sz="1500"/>
          </a:p>
        </p:txBody>
      </p:sp>
      <p:sp>
        <p:nvSpPr>
          <p:cNvPr id="177269022" name="Text 9"/>
          <p:cNvSpPr txBox="1"/>
          <p:nvPr/>
        </p:nvSpPr>
        <p:spPr bwMode="auto">
          <a:xfrm>
            <a:off x="3474720" y="2112264"/>
            <a:ext cx="2231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100">
                <a:solidFill>
                  <a:schemeClr val="tx1"/>
                </a:solidFill>
              </a:rPr>
              <a:t>Proveedor, vigencia, SLA y licencias desde contratos y TDRs, citados por cláusula</a:t>
            </a:r>
            <a:endParaRPr lang="en-US" sz="1100"/>
          </a:p>
        </p:txBody>
      </p:sp>
      <p:sp>
        <p:nvSpPr>
          <p:cNvPr id="252685465" name="tarjeta Metamodelo ArchiMate"/>
          <p:cNvSpPr/>
          <p:nvPr/>
        </p:nvSpPr>
        <p:spPr bwMode="auto">
          <a:xfrm>
            <a:off x="6126480" y="1417320"/>
            <a:ext cx="2560320" cy="137160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76200" dist="25400" dir="5400000" sx="100000" sy="100000" kx="0" ky="0" algn="bl" rotWithShape="0">
              <a:srgbClr val="0B3C49">
                <a:alpha val="14000"/>
              </a:srgbClr>
            </a:outerShdw>
          </a:effectLst>
        </p:spPr>
      </p:sp>
      <p:sp>
        <p:nvSpPr>
          <p:cNvPr id="1506950637" name="Metamodelo ArchiMate círculo"/>
          <p:cNvSpPr/>
          <p:nvPr/>
        </p:nvSpPr>
        <p:spPr bwMode="auto">
          <a:xfrm>
            <a:off x="6309360" y="1563624"/>
            <a:ext cx="457200" cy="457200"/>
          </a:xfrm>
          <a:prstGeom prst="ellipse">
            <a:avLst/>
          </a:prstGeom>
          <a:solidFill>
            <a:srgbClr val="127C86"/>
          </a:solidFill>
          <a:ln w="12700">
            <a:solidFill>
              <a:srgbClr val="127C86"/>
            </a:solidFill>
            <a:prstDash val="solid"/>
          </a:ln>
        </p:spPr>
      </p:sp>
      <p:pic>
        <p:nvPicPr>
          <p:cNvPr id="1184188786" name="Metamodelo ArchiMate icono" descr="Metamodelo ArchiMate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423660" y="1677924"/>
            <a:ext cx="228600" cy="228600"/>
          </a:xfrm>
          <a:prstGeom prst="rect">
            <a:avLst/>
          </a:prstGeom>
        </p:spPr>
      </p:pic>
      <p:sp>
        <p:nvSpPr>
          <p:cNvPr id="1966498743" name="Text 12"/>
          <p:cNvSpPr txBox="1"/>
          <p:nvPr/>
        </p:nvSpPr>
        <p:spPr bwMode="auto">
          <a:xfrm>
            <a:off x="6876288" y="1563624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chemeClr val="tx2"/>
                </a:solidFill>
              </a:rPr>
              <a:t>Metamodelo ArchiMate</a:t>
            </a:r>
            <a:endParaRPr lang="en-US" sz="1500"/>
          </a:p>
        </p:txBody>
      </p:sp>
      <p:sp>
        <p:nvSpPr>
          <p:cNvPr id="1146943851" name="Text 13"/>
          <p:cNvSpPr txBox="1"/>
          <p:nvPr/>
        </p:nvSpPr>
        <p:spPr bwMode="auto">
          <a:xfrm>
            <a:off x="6309360" y="2112264"/>
            <a:ext cx="2231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100">
                <a:solidFill>
                  <a:schemeClr val="tx1"/>
                </a:solidFill>
              </a:rPr>
              <a:t>Fact Sheets en ArchiMate 3.2; consulta vía API y MCP (chat opcional, después)</a:t>
            </a:r>
            <a:endParaRPr lang="en-US" sz="1100"/>
          </a:p>
        </p:txBody>
      </p:sp>
      <p:sp>
        <p:nvSpPr>
          <p:cNvPr id="415560622" name="tarjeta Humano en el bucle"/>
          <p:cNvSpPr/>
          <p:nvPr/>
        </p:nvSpPr>
        <p:spPr bwMode="auto">
          <a:xfrm>
            <a:off x="457200" y="2953512"/>
            <a:ext cx="2560320" cy="137160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76200" dist="25400" dir="5400000" sx="100000" sy="100000" kx="0" ky="0" algn="bl" rotWithShape="0">
              <a:srgbClr val="0B3C49">
                <a:alpha val="14000"/>
              </a:srgbClr>
            </a:outerShdw>
          </a:effectLst>
        </p:spPr>
      </p:sp>
      <p:sp>
        <p:nvSpPr>
          <p:cNvPr id="475073857" name="Humano en el bucle círculo"/>
          <p:cNvSpPr/>
          <p:nvPr/>
        </p:nvSpPr>
        <p:spPr bwMode="auto">
          <a:xfrm>
            <a:off x="640080" y="3099816"/>
            <a:ext cx="457200" cy="457200"/>
          </a:xfrm>
          <a:prstGeom prst="ellipse">
            <a:avLst/>
          </a:prstGeom>
          <a:solidFill>
            <a:srgbClr val="127C86"/>
          </a:solidFill>
          <a:ln w="12700">
            <a:solidFill>
              <a:srgbClr val="127C86"/>
            </a:solidFill>
            <a:prstDash val="solid"/>
          </a:ln>
        </p:spPr>
      </p:sp>
      <p:pic>
        <p:nvPicPr>
          <p:cNvPr id="2103833712" name="Humano en el bucle icono" descr="Humano en el bucle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754379" y="3214116"/>
            <a:ext cx="228600" cy="228600"/>
          </a:xfrm>
          <a:prstGeom prst="rect">
            <a:avLst/>
          </a:prstGeom>
        </p:spPr>
      </p:pic>
      <p:sp>
        <p:nvSpPr>
          <p:cNvPr id="1715068824" name="Text 16"/>
          <p:cNvSpPr txBox="1"/>
          <p:nvPr/>
        </p:nvSpPr>
        <p:spPr bwMode="auto">
          <a:xfrm>
            <a:off x="1207008" y="3099816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chemeClr val="tx2"/>
                </a:solidFill>
              </a:rPr>
              <a:t>Humano en el bucle</a:t>
            </a:r>
            <a:endParaRPr lang="en-US" sz="1500"/>
          </a:p>
        </p:txBody>
      </p:sp>
      <p:sp>
        <p:nvSpPr>
          <p:cNvPr id="915927703" name="Text 17"/>
          <p:cNvSpPr txBox="1"/>
          <p:nvPr/>
        </p:nvSpPr>
        <p:spPr bwMode="auto">
          <a:xfrm>
            <a:off x="640080" y="3648456"/>
            <a:ext cx="2231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100">
                <a:solidFill>
                  <a:schemeClr val="tx1"/>
                </a:solidFill>
              </a:rPr>
              <a:t>La IA crea borradores; el arquitecto aprueba tras ver la evidencia</a:t>
            </a:r>
            <a:endParaRPr lang="en-US" sz="1100"/>
          </a:p>
        </p:txBody>
      </p:sp>
      <p:sp>
        <p:nvSpPr>
          <p:cNvPr id="729897022" name="tarjeta Fuentes abiertas"/>
          <p:cNvSpPr/>
          <p:nvPr/>
        </p:nvSpPr>
        <p:spPr bwMode="auto">
          <a:xfrm>
            <a:off x="3291840" y="2953512"/>
            <a:ext cx="2560320" cy="137160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76200" dist="25400" dir="5400000" sx="100000" sy="100000" kx="0" ky="0" algn="bl" rotWithShape="0">
              <a:srgbClr val="0B3C49">
                <a:alpha val="14000"/>
              </a:srgbClr>
            </a:outerShdw>
          </a:effectLst>
        </p:spPr>
      </p:sp>
      <p:sp>
        <p:nvSpPr>
          <p:cNvPr id="913419864" name="Fuentes abiertas círculo"/>
          <p:cNvSpPr/>
          <p:nvPr/>
        </p:nvSpPr>
        <p:spPr bwMode="auto">
          <a:xfrm>
            <a:off x="3474720" y="3099816"/>
            <a:ext cx="457200" cy="457200"/>
          </a:xfrm>
          <a:prstGeom prst="ellipse">
            <a:avLst/>
          </a:prstGeom>
          <a:solidFill>
            <a:srgbClr val="127C86"/>
          </a:solidFill>
          <a:ln w="12700">
            <a:solidFill>
              <a:srgbClr val="127C86"/>
            </a:solidFill>
            <a:prstDash val="solid"/>
          </a:ln>
        </p:spPr>
      </p:sp>
      <p:pic>
        <p:nvPicPr>
          <p:cNvPr id="1048442922" name="Fuentes abiertas icono" descr="Fuentes abiertas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3589019" y="3214116"/>
            <a:ext cx="228600" cy="228600"/>
          </a:xfrm>
          <a:prstGeom prst="rect">
            <a:avLst/>
          </a:prstGeom>
        </p:spPr>
      </p:pic>
      <p:sp>
        <p:nvSpPr>
          <p:cNvPr id="444425184" name="Text 20"/>
          <p:cNvSpPr txBox="1"/>
          <p:nvPr/>
        </p:nvSpPr>
        <p:spPr bwMode="auto">
          <a:xfrm>
            <a:off x="4041648" y="3099816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chemeClr val="tx2"/>
                </a:solidFill>
              </a:rPr>
              <a:t>Fuentes abiertas</a:t>
            </a:r>
            <a:endParaRPr lang="en-US" sz="1500"/>
          </a:p>
        </p:txBody>
      </p:sp>
      <p:sp>
        <p:nvSpPr>
          <p:cNvPr id="421354734" name="Text 21"/>
          <p:cNvSpPr txBox="1"/>
          <p:nvPr/>
        </p:nvSpPr>
        <p:spPr bwMode="auto">
          <a:xfrm>
            <a:off x="3474720" y="3648456"/>
            <a:ext cx="2231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100">
                <a:solidFill>
                  <a:schemeClr val="tx1"/>
                </a:solidFill>
              </a:rPr>
              <a:t>SBOM CycloneDX, endoflife.date y NVD/OSV, con procedencia por atributo</a:t>
            </a:r>
            <a:endParaRPr lang="en-US" sz="1100"/>
          </a:p>
        </p:txBody>
      </p:sp>
      <p:sp>
        <p:nvSpPr>
          <p:cNvPr id="397112225" name="tarjeta Plataforma portable"/>
          <p:cNvSpPr/>
          <p:nvPr/>
        </p:nvSpPr>
        <p:spPr bwMode="auto">
          <a:xfrm>
            <a:off x="6126480" y="2953512"/>
            <a:ext cx="2560320" cy="137160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76200" dist="25400" dir="5400000" sx="100000" sy="100000" kx="0" ky="0" algn="bl" rotWithShape="0">
              <a:srgbClr val="0B3C49">
                <a:alpha val="14000"/>
              </a:srgbClr>
            </a:outerShdw>
          </a:effectLst>
        </p:spPr>
      </p:sp>
      <p:sp>
        <p:nvSpPr>
          <p:cNvPr id="268111954" name="Plataforma portable círculo"/>
          <p:cNvSpPr/>
          <p:nvPr/>
        </p:nvSpPr>
        <p:spPr bwMode="auto">
          <a:xfrm>
            <a:off x="6309360" y="3099816"/>
            <a:ext cx="457200" cy="457200"/>
          </a:xfrm>
          <a:prstGeom prst="ellipse">
            <a:avLst/>
          </a:prstGeom>
          <a:solidFill>
            <a:srgbClr val="127C86"/>
          </a:solidFill>
          <a:ln w="12700">
            <a:solidFill>
              <a:srgbClr val="127C86"/>
            </a:solidFill>
            <a:prstDash val="solid"/>
          </a:ln>
        </p:spPr>
      </p:sp>
      <p:pic>
        <p:nvPicPr>
          <p:cNvPr id="662615940" name="Plataforma portable icono" descr="Plataforma portable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6423660" y="3214116"/>
            <a:ext cx="228600" cy="228600"/>
          </a:xfrm>
          <a:prstGeom prst="rect">
            <a:avLst/>
          </a:prstGeom>
        </p:spPr>
      </p:pic>
      <p:sp>
        <p:nvSpPr>
          <p:cNvPr id="1162658909" name="Text 24"/>
          <p:cNvSpPr txBox="1"/>
          <p:nvPr/>
        </p:nvSpPr>
        <p:spPr bwMode="auto">
          <a:xfrm>
            <a:off x="6876288" y="3099816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chemeClr val="tx2"/>
                </a:solidFill>
              </a:rPr>
              <a:t>Plataforma portable</a:t>
            </a:r>
            <a:endParaRPr lang="en-US" sz="1500"/>
          </a:p>
        </p:txBody>
      </p:sp>
      <p:sp>
        <p:nvSpPr>
          <p:cNvPr id="1556449300" name="Text 25"/>
          <p:cNvSpPr txBox="1"/>
          <p:nvPr/>
        </p:nvSpPr>
        <p:spPr bwMode="auto">
          <a:xfrm>
            <a:off x="6309360" y="3648456"/>
            <a:ext cx="2231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100">
                <a:solidFill>
                  <a:schemeClr val="tx1"/>
                </a:solidFill>
              </a:rPr>
              <a:t>Azure objetivo; MVP en capa gratuita (Azure/GCP); IA: Gemini, OpenAI, Claude o Azure OpenAI</a:t>
            </a:r>
            <a:endParaRPr lang="en-US" sz="1100"/>
          </a:p>
        </p:txBody>
      </p:sp>
      <p:sp>
        <p:nvSpPr>
          <p:cNvPr id="1607390910" name="por qué no comprar"/>
          <p:cNvSpPr/>
          <p:nvPr/>
        </p:nvSpPr>
        <p:spPr bwMode="auto">
          <a:xfrm>
            <a:off x="457200" y="4370832"/>
            <a:ext cx="8229600" cy="329184"/>
          </a:xfrm>
          <a:prstGeom prst="roundRect">
            <a:avLst>
              <a:gd name="adj" fmla="val 16667"/>
            </a:avLst>
          </a:prstGeom>
          <a:solidFill>
            <a:schemeClr val="accent2">
              <a:alpha val="20000"/>
            </a:schemeClr>
          </a:solidFill>
          <a:ln w="12700">
            <a:solidFill>
              <a:schemeClr val="accent2">
                <a:alpha val="20000"/>
              </a:schemeClr>
            </a:solidFill>
            <a:prstDash val="solid"/>
          </a:ln>
        </p:spPr>
      </p:sp>
      <p:sp>
        <p:nvSpPr>
          <p:cNvPr id="422385279" name="Text 27"/>
          <p:cNvSpPr txBox="1"/>
          <p:nvPr/>
        </p:nvSpPr>
        <p:spPr bwMode="auto">
          <a:xfrm>
            <a:off x="594360" y="4370832"/>
            <a:ext cx="7955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chemeClr val="tx2"/>
                </a:solidFill>
              </a:rPr>
              <a:t>¿Por qué no comprar? </a:t>
            </a:r>
            <a:r>
              <a:rPr lang="en-US" sz="1100">
                <a:solidFill>
                  <a:schemeClr val="tx1"/>
                </a:solidFill>
              </a:rPr>
              <a:t>LeanIX, ServiceNow y Ardoq son referencia de diseño; </a:t>
            </a:r>
            <a:r>
              <a:rPr lang="es-ES" sz="1100">
                <a:solidFill>
                  <a:schemeClr val="tx1"/>
                </a:solidFill>
              </a:rPr>
              <a:t>el </a:t>
            </a:r>
            <a:r>
              <a:rPr lang="en-US" sz="1100">
                <a:solidFill>
                  <a:schemeClr val="tx1"/>
                </a:solidFill>
              </a:rPr>
              <a:t>valor está en la captura de datos</a:t>
            </a:r>
            <a:endParaRPr lang="en-US" sz="1100"/>
          </a:p>
        </p:txBody>
      </p:sp>
      <p:sp>
        <p:nvSpPr>
          <p:cNvPr id="1556000378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8229600" y="475488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3878629" name="Text 0"/>
          <p:cNvSpPr/>
          <p:nvPr>
            <p:ph type="title" idx="100" hasCustomPrompt="1"/>
          </p:nvPr>
        </p:nvSpPr>
        <p:spPr bwMode="auto"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2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Arquitectura de la solución</a:t>
            </a:r>
            <a:endParaRPr lang="en-US" sz="3200"/>
          </a:p>
        </p:txBody>
      </p:sp>
      <p:sp>
        <p:nvSpPr>
          <p:cNvPr id="185962138" name="Text 0"/>
          <p:cNvSpPr/>
          <p:nvPr>
            <p:ph type="body" idx="101" hasCustomPrompt="1"/>
          </p:nvPr>
        </p:nvSpPr>
        <p:spPr bwMode="auto">
          <a:xfrm>
            <a:off x="457200" y="85953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/>
            </a:pPr>
            <a:r>
              <a:rPr lang="en-US" sz="1600">
                <a:solidFill>
                  <a:schemeClr val="accent3"/>
                </a:solidFill>
                <a:latin typeface="Calibri"/>
                <a:ea typeface="Calibri"/>
                <a:cs typeface="Calibri"/>
              </a:rPr>
              <a:t>Del dato crudo al Fact Sheet aprobado, con evidencia en cada paso</a:t>
            </a:r>
            <a:endParaRPr lang="en-US" sz="1600"/>
          </a:p>
        </p:txBody>
      </p:sp>
      <p:sp>
        <p:nvSpPr>
          <p:cNvPr id="1755673386" name="etapa Fuentes"/>
          <p:cNvSpPr/>
          <p:nvPr/>
        </p:nvSpPr>
        <p:spPr bwMode="auto">
          <a:xfrm>
            <a:off x="457200" y="1417320"/>
            <a:ext cx="1463040" cy="1828800"/>
          </a:xfrm>
          <a:prstGeom prst="roundRect">
            <a:avLst>
              <a:gd name="adj" fmla="val 625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76200" dist="25400" dir="5400000" sx="100000" sy="100000" kx="0" ky="0" algn="bl" rotWithShape="0">
              <a:srgbClr val="0B3C49">
                <a:alpha val="14000"/>
              </a:srgbClr>
            </a:outerShdw>
          </a:effectLst>
        </p:spPr>
      </p:sp>
      <p:sp>
        <p:nvSpPr>
          <p:cNvPr id="22259681" name="Fuentes círculo"/>
          <p:cNvSpPr/>
          <p:nvPr/>
        </p:nvSpPr>
        <p:spPr bwMode="auto">
          <a:xfrm>
            <a:off x="914400" y="1554480"/>
            <a:ext cx="548640" cy="548640"/>
          </a:xfrm>
          <a:prstGeom prst="ellipse">
            <a:avLst/>
          </a:prstGeom>
          <a:solidFill>
            <a:srgbClr val="5F7480"/>
          </a:solidFill>
          <a:ln w="12700">
            <a:solidFill>
              <a:srgbClr val="5F7480"/>
            </a:solidFill>
            <a:prstDash val="solid"/>
          </a:ln>
        </p:spPr>
      </p:sp>
      <p:pic>
        <p:nvPicPr>
          <p:cNvPr id="1556280813" name="Fuentes icono" descr="Fuentes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1560" y="1691640"/>
            <a:ext cx="274320" cy="274320"/>
          </a:xfrm>
          <a:prstGeom prst="rect">
            <a:avLst/>
          </a:prstGeom>
        </p:spPr>
      </p:pic>
      <p:sp>
        <p:nvSpPr>
          <p:cNvPr id="703345496" name="Text 4"/>
          <p:cNvSpPr txBox="1"/>
          <p:nvPr/>
        </p:nvSpPr>
        <p:spPr bwMode="auto">
          <a:xfrm>
            <a:off x="530352" y="2167128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chemeClr val="tx2"/>
                </a:solidFill>
              </a:rPr>
              <a:t>Fuentes</a:t>
            </a:r>
            <a:endParaRPr lang="en-US" sz="1300"/>
          </a:p>
        </p:txBody>
      </p:sp>
      <p:sp>
        <p:nvSpPr>
          <p:cNvPr id="512967220" name="Text 5"/>
          <p:cNvSpPr txBox="1"/>
          <p:nvPr/>
        </p:nvSpPr>
        <p:spPr bwMode="auto">
          <a:xfrm>
            <a:off x="548640" y="24688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050">
                <a:solidFill>
                  <a:schemeClr val="tx1"/>
                </a:solidFill>
              </a:rPr>
              <a:t>Git · CI/CD · K8s, contratos y TDRs, Excel y CMDB</a:t>
            </a:r>
            <a:endParaRPr lang="en-US" sz="1050"/>
          </a:p>
        </p:txBody>
      </p:sp>
      <p:sp>
        <p:nvSpPr>
          <p:cNvPr id="487374424" name="flujo 1"/>
          <p:cNvSpPr/>
          <p:nvPr/>
        </p:nvSpPr>
        <p:spPr bwMode="auto">
          <a:xfrm>
            <a:off x="1938528" y="1828800"/>
            <a:ext cx="192024" cy="914"/>
          </a:xfrm>
          <a:prstGeom prst="line">
            <a:avLst/>
          </a:prstGeom>
          <a:noFill/>
          <a:ln w="25400">
            <a:solidFill>
              <a:srgbClr val="127C86"/>
            </a:solidFill>
            <a:prstDash val="solid"/>
            <a:tailEnd type="triangle"/>
          </a:ln>
        </p:spPr>
      </p:sp>
      <p:sp>
        <p:nvSpPr>
          <p:cNvPr id="498061515" name="etapa Descubrimiento"/>
          <p:cNvSpPr/>
          <p:nvPr/>
        </p:nvSpPr>
        <p:spPr bwMode="auto">
          <a:xfrm>
            <a:off x="2148840" y="1417320"/>
            <a:ext cx="1463040" cy="1828800"/>
          </a:xfrm>
          <a:prstGeom prst="roundRect">
            <a:avLst>
              <a:gd name="adj" fmla="val 625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76200" dist="25400" dir="5400000" sx="100000" sy="100000" kx="0" ky="0" algn="bl" rotWithShape="0">
              <a:srgbClr val="0B3C49">
                <a:alpha val="14000"/>
              </a:srgbClr>
            </a:outerShdw>
          </a:effectLst>
        </p:spPr>
      </p:sp>
      <p:sp>
        <p:nvSpPr>
          <p:cNvPr id="922533563" name="Descubrimiento círculo"/>
          <p:cNvSpPr/>
          <p:nvPr/>
        </p:nvSpPr>
        <p:spPr bwMode="auto">
          <a:xfrm>
            <a:off x="2606040" y="1554480"/>
            <a:ext cx="548640" cy="548640"/>
          </a:xfrm>
          <a:prstGeom prst="ellipse">
            <a:avLst/>
          </a:prstGeom>
          <a:solidFill>
            <a:srgbClr val="127C86"/>
          </a:solidFill>
          <a:ln w="12700">
            <a:solidFill>
              <a:srgbClr val="127C86"/>
            </a:solidFill>
            <a:prstDash val="solid"/>
          </a:ln>
        </p:spPr>
      </p:sp>
      <p:pic>
        <p:nvPicPr>
          <p:cNvPr id="1797457093" name="Descubrimiento icono" descr="Descubrimiento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2743200" y="1691640"/>
            <a:ext cx="274320" cy="274320"/>
          </a:xfrm>
          <a:prstGeom prst="rect">
            <a:avLst/>
          </a:prstGeom>
        </p:spPr>
      </p:pic>
      <p:sp>
        <p:nvSpPr>
          <p:cNvPr id="624178527" name="Text 9"/>
          <p:cNvSpPr txBox="1"/>
          <p:nvPr/>
        </p:nvSpPr>
        <p:spPr bwMode="auto">
          <a:xfrm>
            <a:off x="2221992" y="2167128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chemeClr val="tx2"/>
                </a:solidFill>
              </a:rPr>
              <a:t>Descubrimiento</a:t>
            </a:r>
            <a:endParaRPr lang="en-US" sz="1300"/>
          </a:p>
        </p:txBody>
      </p:sp>
      <p:sp>
        <p:nvSpPr>
          <p:cNvPr id="1430385023" name="Text 10"/>
          <p:cNvSpPr txBox="1"/>
          <p:nvPr/>
        </p:nvSpPr>
        <p:spPr bwMode="auto">
          <a:xfrm>
            <a:off x="2240280" y="24688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050">
                <a:solidFill>
                  <a:schemeClr val="tx1"/>
                </a:solidFill>
              </a:rPr>
              <a:t>Agente 1 Code-to-Catalog y Agente 2 Dark Data Miner</a:t>
            </a:r>
            <a:endParaRPr lang="en-US" sz="1050"/>
          </a:p>
        </p:txBody>
      </p:sp>
      <p:sp>
        <p:nvSpPr>
          <p:cNvPr id="853172603" name="flujo 2"/>
          <p:cNvSpPr/>
          <p:nvPr/>
        </p:nvSpPr>
        <p:spPr bwMode="auto">
          <a:xfrm>
            <a:off x="3630168" y="1828800"/>
            <a:ext cx="192024" cy="914"/>
          </a:xfrm>
          <a:prstGeom prst="line">
            <a:avLst/>
          </a:prstGeom>
          <a:noFill/>
          <a:ln w="25400">
            <a:solidFill>
              <a:srgbClr val="127C86"/>
            </a:solidFill>
            <a:prstDash val="solid"/>
            <a:tailEnd type="triangle"/>
          </a:ln>
        </p:spPr>
      </p:sp>
      <p:sp>
        <p:nvSpPr>
          <p:cNvPr id="1787762200" name="etapa Reconciliación"/>
          <p:cNvSpPr/>
          <p:nvPr/>
        </p:nvSpPr>
        <p:spPr bwMode="auto">
          <a:xfrm>
            <a:off x="3840480" y="1417320"/>
            <a:ext cx="1463040" cy="1828800"/>
          </a:xfrm>
          <a:prstGeom prst="roundRect">
            <a:avLst>
              <a:gd name="adj" fmla="val 625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76200" dist="25400" dir="5400000" sx="100000" sy="100000" kx="0" ky="0" algn="bl" rotWithShape="0">
              <a:srgbClr val="0B3C49">
                <a:alpha val="14000"/>
              </a:srgbClr>
            </a:outerShdw>
          </a:effectLst>
        </p:spPr>
      </p:sp>
      <p:sp>
        <p:nvSpPr>
          <p:cNvPr id="445503280" name="Reconciliación círculo"/>
          <p:cNvSpPr/>
          <p:nvPr/>
        </p:nvSpPr>
        <p:spPr bwMode="auto">
          <a:xfrm>
            <a:off x="4297680" y="1554480"/>
            <a:ext cx="548640" cy="548640"/>
          </a:xfrm>
          <a:prstGeom prst="ellipse">
            <a:avLst/>
          </a:prstGeom>
          <a:solidFill>
            <a:srgbClr val="127C86"/>
          </a:solidFill>
          <a:ln w="12700">
            <a:solidFill>
              <a:srgbClr val="127C86"/>
            </a:solidFill>
            <a:prstDash val="solid"/>
          </a:ln>
        </p:spPr>
      </p:sp>
      <p:pic>
        <p:nvPicPr>
          <p:cNvPr id="1791046335" name="Reconciliación icono" descr="Reconciliación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4434840" y="1691640"/>
            <a:ext cx="274320" cy="274320"/>
          </a:xfrm>
          <a:prstGeom prst="rect">
            <a:avLst/>
          </a:prstGeom>
        </p:spPr>
      </p:pic>
      <p:sp>
        <p:nvSpPr>
          <p:cNvPr id="1761499396" name="Text 14"/>
          <p:cNvSpPr txBox="1"/>
          <p:nvPr/>
        </p:nvSpPr>
        <p:spPr bwMode="auto">
          <a:xfrm>
            <a:off x="3913632" y="2167128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chemeClr val="tx2"/>
                </a:solidFill>
              </a:rPr>
              <a:t>Reconciliación</a:t>
            </a:r>
            <a:endParaRPr lang="en-US" sz="1300"/>
          </a:p>
        </p:txBody>
      </p:sp>
      <p:sp>
        <p:nvSpPr>
          <p:cNvPr id="261783180" name="Text 15"/>
          <p:cNvSpPr txBox="1"/>
          <p:nvPr/>
        </p:nvSpPr>
        <p:spPr bwMode="auto">
          <a:xfrm>
            <a:off x="3931920" y="24688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050">
                <a:solidFill>
                  <a:schemeClr val="tx1"/>
                </a:solidFill>
              </a:rPr>
              <a:t>Agente 3 vincula evidencia N:M con score de confianza</a:t>
            </a:r>
            <a:endParaRPr lang="en-US" sz="1050"/>
          </a:p>
        </p:txBody>
      </p:sp>
      <p:sp>
        <p:nvSpPr>
          <p:cNvPr id="1267975256" name="flujo 3"/>
          <p:cNvSpPr/>
          <p:nvPr/>
        </p:nvSpPr>
        <p:spPr bwMode="auto">
          <a:xfrm>
            <a:off x="5321808" y="1828800"/>
            <a:ext cx="192024" cy="914"/>
          </a:xfrm>
          <a:prstGeom prst="line">
            <a:avLst/>
          </a:prstGeom>
          <a:noFill/>
          <a:ln w="25400">
            <a:solidFill>
              <a:srgbClr val="127C86"/>
            </a:solidFill>
            <a:prstDash val="solid"/>
            <a:tailEnd type="triangle"/>
          </a:ln>
        </p:spPr>
      </p:sp>
      <p:sp>
        <p:nvSpPr>
          <p:cNvPr id="787280139" name="etapa Validación"/>
          <p:cNvSpPr/>
          <p:nvPr/>
        </p:nvSpPr>
        <p:spPr bwMode="auto">
          <a:xfrm>
            <a:off x="5532120" y="1417320"/>
            <a:ext cx="1463040" cy="1828800"/>
          </a:xfrm>
          <a:prstGeom prst="roundRect">
            <a:avLst>
              <a:gd name="adj" fmla="val 625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76200" dist="25400" dir="5400000" sx="100000" sy="100000" kx="0" ky="0" algn="bl" rotWithShape="0">
              <a:srgbClr val="0B3C49">
                <a:alpha val="14000"/>
              </a:srgbClr>
            </a:outerShdw>
          </a:effectLst>
        </p:spPr>
      </p:sp>
      <p:sp>
        <p:nvSpPr>
          <p:cNvPr id="175663233" name="Validación círculo"/>
          <p:cNvSpPr/>
          <p:nvPr/>
        </p:nvSpPr>
        <p:spPr bwMode="auto">
          <a:xfrm>
            <a:off x="5989320" y="1554480"/>
            <a:ext cx="548640" cy="548640"/>
          </a:xfrm>
          <a:prstGeom prst="ellipse">
            <a:avLst/>
          </a:prstGeom>
          <a:solidFill>
            <a:srgbClr val="127C86"/>
          </a:solidFill>
          <a:ln w="12700">
            <a:solidFill>
              <a:srgbClr val="127C86"/>
            </a:solidFill>
            <a:prstDash val="solid"/>
          </a:ln>
        </p:spPr>
      </p:sp>
      <p:pic>
        <p:nvPicPr>
          <p:cNvPr id="1442969900" name="Validación icono" descr="Validación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6126480" y="1691640"/>
            <a:ext cx="274320" cy="274320"/>
          </a:xfrm>
          <a:prstGeom prst="rect">
            <a:avLst/>
          </a:prstGeom>
        </p:spPr>
      </p:pic>
      <p:sp>
        <p:nvSpPr>
          <p:cNvPr id="90633478" name="Text 19"/>
          <p:cNvSpPr txBox="1"/>
          <p:nvPr/>
        </p:nvSpPr>
        <p:spPr bwMode="auto">
          <a:xfrm>
            <a:off x="5605272" y="2167128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chemeClr val="tx2"/>
                </a:solidFill>
              </a:rPr>
              <a:t>Validación</a:t>
            </a:r>
            <a:endParaRPr lang="en-US" sz="1300"/>
          </a:p>
        </p:txBody>
      </p:sp>
      <p:sp>
        <p:nvSpPr>
          <p:cNvPr id="746128958" name="Text 20"/>
          <p:cNvSpPr txBox="1"/>
          <p:nvPr/>
        </p:nvSpPr>
        <p:spPr bwMode="auto">
          <a:xfrm>
            <a:off x="5623560" y="24688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050">
                <a:solidFill>
                  <a:schemeClr val="tx1"/>
                </a:solidFill>
              </a:rPr>
              <a:t>Agente 4: micro-nudge de 1 clic; huérfanos a revisión</a:t>
            </a:r>
            <a:endParaRPr lang="en-US" sz="1050"/>
          </a:p>
        </p:txBody>
      </p:sp>
      <p:sp>
        <p:nvSpPr>
          <p:cNvPr id="1430298771" name="flujo 4"/>
          <p:cNvSpPr/>
          <p:nvPr/>
        </p:nvSpPr>
        <p:spPr bwMode="auto">
          <a:xfrm>
            <a:off x="7013448" y="1828800"/>
            <a:ext cx="192024" cy="914"/>
          </a:xfrm>
          <a:prstGeom prst="line">
            <a:avLst/>
          </a:prstGeom>
          <a:noFill/>
          <a:ln w="25400">
            <a:solidFill>
              <a:srgbClr val="127C86"/>
            </a:solidFill>
            <a:prstDash val="solid"/>
            <a:tailEnd type="triangle"/>
          </a:ln>
        </p:spPr>
      </p:sp>
      <p:sp>
        <p:nvSpPr>
          <p:cNvPr id="69717365" name="etapa Aprobación"/>
          <p:cNvSpPr/>
          <p:nvPr/>
        </p:nvSpPr>
        <p:spPr bwMode="auto">
          <a:xfrm>
            <a:off x="7223760" y="1417320"/>
            <a:ext cx="1463040" cy="1828800"/>
          </a:xfrm>
          <a:prstGeom prst="roundRect">
            <a:avLst>
              <a:gd name="adj" fmla="val 625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76200" dist="25400" dir="5400000" sx="100000" sy="100000" kx="0" ky="0" algn="bl" rotWithShape="0">
              <a:srgbClr val="0B3C49">
                <a:alpha val="14000"/>
              </a:srgbClr>
            </a:outerShdw>
          </a:effectLst>
        </p:spPr>
      </p:sp>
      <p:sp>
        <p:nvSpPr>
          <p:cNvPr id="1752842373" name="Aprobación círculo"/>
          <p:cNvSpPr/>
          <p:nvPr/>
        </p:nvSpPr>
        <p:spPr bwMode="auto">
          <a:xfrm>
            <a:off x="7680960" y="1554480"/>
            <a:ext cx="548640" cy="54864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293862741" name="Aprobación icono" descr="Aprobación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7818120" y="1691640"/>
            <a:ext cx="274320" cy="274320"/>
          </a:xfrm>
          <a:prstGeom prst="rect">
            <a:avLst/>
          </a:prstGeom>
        </p:spPr>
      </p:pic>
      <p:sp>
        <p:nvSpPr>
          <p:cNvPr id="551872383" name="Text 24"/>
          <p:cNvSpPr txBox="1"/>
          <p:nvPr/>
        </p:nvSpPr>
        <p:spPr bwMode="auto">
          <a:xfrm>
            <a:off x="7296912" y="2167128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chemeClr val="tx2"/>
                </a:solidFill>
              </a:rPr>
              <a:t>Aprobación</a:t>
            </a:r>
            <a:endParaRPr lang="en-US" sz="1300"/>
          </a:p>
        </p:txBody>
      </p:sp>
      <p:sp>
        <p:nvSpPr>
          <p:cNvPr id="905220197" name="Text 25"/>
          <p:cNvSpPr txBox="1"/>
          <p:nvPr/>
        </p:nvSpPr>
        <p:spPr bwMode="auto">
          <a:xfrm>
            <a:off x="7315200" y="24688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050">
                <a:solidFill>
                  <a:schemeClr val="tx1"/>
                </a:solidFill>
              </a:rPr>
              <a:t>Arquitecto TI o Gobierno aprueba y publica</a:t>
            </a:r>
            <a:endParaRPr lang="en-US" sz="1050"/>
          </a:p>
        </p:txBody>
      </p:sp>
      <p:sp>
        <p:nvSpPr>
          <p:cNvPr id="881504512" name="publica"/>
          <p:cNvSpPr/>
          <p:nvPr/>
        </p:nvSpPr>
        <p:spPr bwMode="auto">
          <a:xfrm>
            <a:off x="7955280" y="3246120"/>
            <a:ext cx="914" cy="365760"/>
          </a:xfrm>
          <a:prstGeom prst="line">
            <a:avLst/>
          </a:prstGeom>
          <a:noFill/>
          <a:ln w="25400">
            <a:solidFill>
              <a:srgbClr val="F2A900"/>
            </a:solidFill>
            <a:prstDash val="solid"/>
            <a:tailEnd type="triangle"/>
          </a:ln>
        </p:spPr>
      </p:sp>
      <p:sp>
        <p:nvSpPr>
          <p:cNvPr id="594092470" name="catálogo APM"/>
          <p:cNvSpPr/>
          <p:nvPr/>
        </p:nvSpPr>
        <p:spPr bwMode="auto">
          <a:xfrm>
            <a:off x="457200" y="3611880"/>
            <a:ext cx="8229600" cy="960120"/>
          </a:xfrm>
          <a:prstGeom prst="roundRect">
            <a:avLst>
              <a:gd name="adj" fmla="val 952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36289581" name="catálogo círculo"/>
          <p:cNvSpPr/>
          <p:nvPr/>
        </p:nvSpPr>
        <p:spPr bwMode="auto">
          <a:xfrm>
            <a:off x="640080" y="3813048"/>
            <a:ext cx="548640" cy="54864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039707622" name="catálogo icono" descr="catálogo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777240" y="3950208"/>
            <a:ext cx="274320" cy="274320"/>
          </a:xfrm>
          <a:prstGeom prst="rect">
            <a:avLst/>
          </a:prstGeom>
        </p:spPr>
      </p:pic>
      <p:sp>
        <p:nvSpPr>
          <p:cNvPr id="1646222971" name="Text 29"/>
          <p:cNvSpPr txBox="1"/>
          <p:nvPr/>
        </p:nvSpPr>
        <p:spPr bwMode="auto">
          <a:xfrm>
            <a:off x="1325880" y="361188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chemeClr val="bg1"/>
                </a:solidFill>
              </a:rPr>
              <a:t>Catálogo APM gobernado</a:t>
            </a:r>
            <a:endParaRPr lang="en-US" sz="1400"/>
          </a:p>
          <a:p>
            <a:pPr marL="0" indent="0">
              <a:buNone/>
              <a:defRPr/>
            </a:pPr>
            <a:r>
              <a:rPr lang="en-US" sz="1100">
                <a:solidFill>
                  <a:schemeClr val="accent6"/>
                </a:solidFill>
              </a:rPr>
              <a:t>API única para personas y agentes</a:t>
            </a:r>
            <a:endParaRPr lang="en-US" sz="1400"/>
          </a:p>
        </p:txBody>
      </p:sp>
      <p:sp>
        <p:nvSpPr>
          <p:cNvPr id="1209971841" name="capacidad Consulta API/MCP"/>
          <p:cNvSpPr/>
          <p:nvPr/>
        </p:nvSpPr>
        <p:spPr bwMode="auto">
          <a:xfrm>
            <a:off x="3474720" y="3739896"/>
            <a:ext cx="1188720" cy="704088"/>
          </a:xfrm>
          <a:prstGeom prst="roundRect">
            <a:avLst>
              <a:gd name="adj" fmla="val 1039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73686155" name="icono Consulta API/MCP" descr="Consulta API/MCP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3950208" y="3813048"/>
            <a:ext cx="237744" cy="237744"/>
          </a:xfrm>
          <a:prstGeom prst="rect">
            <a:avLst/>
          </a:prstGeom>
        </p:spPr>
      </p:pic>
      <p:sp>
        <p:nvSpPr>
          <p:cNvPr id="283614137" name="Text 31"/>
          <p:cNvSpPr txBox="1"/>
          <p:nvPr/>
        </p:nvSpPr>
        <p:spPr bwMode="auto">
          <a:xfrm>
            <a:off x="3511296" y="4087368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chemeClr val="bg1"/>
                </a:solidFill>
              </a:rPr>
              <a:t>Consulta API/MCP</a:t>
            </a:r>
            <a:endParaRPr lang="en-US" sz="1000"/>
          </a:p>
        </p:txBody>
      </p:sp>
      <p:sp>
        <p:nvSpPr>
          <p:cNvPr id="1421617064" name="capacidad Vulnerabilidades"/>
          <p:cNvSpPr/>
          <p:nvPr/>
        </p:nvSpPr>
        <p:spPr bwMode="auto">
          <a:xfrm>
            <a:off x="4754880" y="3739896"/>
            <a:ext cx="1188720" cy="704088"/>
          </a:xfrm>
          <a:prstGeom prst="roundRect">
            <a:avLst>
              <a:gd name="adj" fmla="val 1039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15714471" name="icono Vulnerabilidades" descr="Vulnerabilidades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>
            <a:off x="5230368" y="3813048"/>
            <a:ext cx="237744" cy="237744"/>
          </a:xfrm>
          <a:prstGeom prst="rect">
            <a:avLst/>
          </a:prstGeom>
        </p:spPr>
      </p:pic>
      <p:sp>
        <p:nvSpPr>
          <p:cNvPr id="1670886559" name="Text 33"/>
          <p:cNvSpPr txBox="1"/>
          <p:nvPr/>
        </p:nvSpPr>
        <p:spPr bwMode="auto">
          <a:xfrm>
            <a:off x="4791456" y="4087368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chemeClr val="bg1"/>
                </a:solidFill>
              </a:rPr>
              <a:t>Vulnerabilidades</a:t>
            </a:r>
            <a:endParaRPr lang="en-US" sz="1000"/>
          </a:p>
        </p:txBody>
      </p:sp>
      <p:sp>
        <p:nvSpPr>
          <p:cNvPr id="1030148933" name="capacidad Obsolescencia"/>
          <p:cNvSpPr/>
          <p:nvPr/>
        </p:nvSpPr>
        <p:spPr bwMode="auto">
          <a:xfrm>
            <a:off x="6035039" y="3739896"/>
            <a:ext cx="1188720" cy="704088"/>
          </a:xfrm>
          <a:prstGeom prst="roundRect">
            <a:avLst>
              <a:gd name="adj" fmla="val 1039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97267577" name="icono Obsolescencia" descr="Obsolescencia"/>
          <p:cNvPicPr>
            <a:picLocks noChangeAspect="1"/>
          </p:cNvPicPr>
          <p:nvPr/>
        </p:nvPicPr>
        <p:blipFill rotWithShape="1">
          <a:blip r:embed="rId11"/>
          <a:stretch/>
        </p:blipFill>
        <p:spPr bwMode="auto">
          <a:xfrm>
            <a:off x="6510528" y="3813048"/>
            <a:ext cx="237744" cy="237744"/>
          </a:xfrm>
          <a:prstGeom prst="rect">
            <a:avLst/>
          </a:prstGeom>
        </p:spPr>
      </p:pic>
      <p:sp>
        <p:nvSpPr>
          <p:cNvPr id="1871074069" name="Text 35"/>
          <p:cNvSpPr txBox="1"/>
          <p:nvPr/>
        </p:nvSpPr>
        <p:spPr bwMode="auto">
          <a:xfrm>
            <a:off x="6071616" y="4087368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chemeClr val="bg1"/>
                </a:solidFill>
              </a:rPr>
              <a:t>Obsolescencia</a:t>
            </a:r>
            <a:endParaRPr lang="en-US" sz="1000"/>
          </a:p>
        </p:txBody>
      </p:sp>
      <p:sp>
        <p:nvSpPr>
          <p:cNvPr id="577587415" name="capacidad Análisis de impacto"/>
          <p:cNvSpPr/>
          <p:nvPr/>
        </p:nvSpPr>
        <p:spPr bwMode="auto">
          <a:xfrm>
            <a:off x="7315200" y="3739896"/>
            <a:ext cx="1188720" cy="704088"/>
          </a:xfrm>
          <a:prstGeom prst="roundRect">
            <a:avLst>
              <a:gd name="adj" fmla="val 1039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36189739" name="icono Análisis de impacto" descr="Análisis de impacto"/>
          <p:cNvPicPr>
            <a:picLocks noChangeAspect="1"/>
          </p:cNvPicPr>
          <p:nvPr/>
        </p:nvPicPr>
        <p:blipFill rotWithShape="1">
          <a:blip r:embed="rId12"/>
          <a:stretch/>
        </p:blipFill>
        <p:spPr bwMode="auto">
          <a:xfrm>
            <a:off x="7790687" y="3813048"/>
            <a:ext cx="237744" cy="237744"/>
          </a:xfrm>
          <a:prstGeom prst="rect">
            <a:avLst/>
          </a:prstGeom>
        </p:spPr>
      </p:pic>
      <p:sp>
        <p:nvSpPr>
          <p:cNvPr id="922081936" name="Text 37"/>
          <p:cNvSpPr txBox="1"/>
          <p:nvPr/>
        </p:nvSpPr>
        <p:spPr bwMode="auto">
          <a:xfrm>
            <a:off x="7351776" y="4087368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chemeClr val="bg1"/>
                </a:solidFill>
              </a:rPr>
              <a:t>Análisis de impacto</a:t>
            </a:r>
            <a:endParaRPr lang="en-US" sz="1000"/>
          </a:p>
        </p:txBody>
      </p:sp>
      <p:sp>
        <p:nvSpPr>
          <p:cNvPr id="1165051634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8229600" y="475488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6114015" name="Text 0"/>
          <p:cNvSpPr/>
          <p:nvPr>
            <p:ph type="title" idx="100" hasCustomPrompt="1"/>
          </p:nvPr>
        </p:nvSpPr>
        <p:spPr bwMode="auto"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2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Beneficios</a:t>
            </a:r>
            <a:endParaRPr lang="en-US" sz="3200"/>
          </a:p>
        </p:txBody>
      </p:sp>
      <p:sp>
        <p:nvSpPr>
          <p:cNvPr id="1431571176" name="Text 0"/>
          <p:cNvSpPr/>
          <p:nvPr>
            <p:ph type="body" idx="101" hasCustomPrompt="1"/>
          </p:nvPr>
        </p:nvSpPr>
        <p:spPr bwMode="auto">
          <a:xfrm>
            <a:off x="457200" y="85953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/>
            </a:pPr>
            <a:r>
              <a:rPr lang="en-US" sz="1600">
                <a:solidFill>
                  <a:schemeClr val="accent3"/>
                </a:solidFill>
                <a:latin typeface="Calibri"/>
                <a:ea typeface="Calibri"/>
                <a:cs typeface="Calibri"/>
              </a:rPr>
              <a:t>Un catálogo vivo, confiable y trazable para decidir con evidencia</a:t>
            </a:r>
            <a:endParaRPr lang="en-US" sz="1600"/>
          </a:p>
        </p:txBody>
      </p:sp>
      <p:sp>
        <p:nvSpPr>
          <p:cNvPr id="1998943025" name="dato 1"/>
          <p:cNvSpPr/>
          <p:nvPr/>
        </p:nvSpPr>
        <p:spPr bwMode="auto">
          <a:xfrm>
            <a:off x="457200" y="1417320"/>
            <a:ext cx="1883664" cy="1691640"/>
          </a:xfrm>
          <a:prstGeom prst="roundRect">
            <a:avLst>
              <a:gd name="adj" fmla="val 540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sx="100000" sy="100000" kx="0" ky="0" algn="bl" rotWithShape="0">
              <a:srgbClr val="0B3C49">
                <a:alpha val="14000"/>
              </a:srgbClr>
            </a:outerShdw>
          </a:effectLst>
        </p:spPr>
      </p:sp>
      <p:sp>
        <p:nvSpPr>
          <p:cNvPr id="1999271274" name="Text 3"/>
          <p:cNvSpPr txBox="1"/>
          <p:nvPr/>
        </p:nvSpPr>
        <p:spPr bwMode="auto">
          <a:xfrm>
            <a:off x="594360" y="1508759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4000" b="1">
                <a:solidFill>
                  <a:schemeClr val="accent2"/>
                </a:solidFill>
                <a:latin typeface="Calibri"/>
                <a:ea typeface="Calibri"/>
                <a:cs typeface="Calibri"/>
              </a:rPr>
              <a:t>4</a:t>
            </a:r>
            <a:endParaRPr lang="en-US" sz="4000"/>
          </a:p>
        </p:txBody>
      </p:sp>
      <p:sp>
        <p:nvSpPr>
          <p:cNvPr id="1995906785" name="Text 4"/>
          <p:cNvSpPr txBox="1"/>
          <p:nvPr/>
        </p:nvSpPr>
        <p:spPr bwMode="auto">
          <a:xfrm>
            <a:off x="594360" y="2286000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chemeClr val="bg1"/>
                </a:solidFill>
              </a:rPr>
              <a:t>agentes mantienen el catálogo con mínima intervención humana</a:t>
            </a:r>
            <a:endParaRPr lang="en-US" sz="1200"/>
          </a:p>
        </p:txBody>
      </p:sp>
      <p:sp>
        <p:nvSpPr>
          <p:cNvPr id="902109957" name="dato 2"/>
          <p:cNvSpPr/>
          <p:nvPr/>
        </p:nvSpPr>
        <p:spPr bwMode="auto">
          <a:xfrm>
            <a:off x="2569464" y="1417320"/>
            <a:ext cx="1883664" cy="16916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76200" dist="25400" dir="5400000" sx="100000" sy="100000" kx="0" ky="0" algn="bl" rotWithShape="0">
              <a:srgbClr val="0B3C49">
                <a:alpha val="14000"/>
              </a:srgbClr>
            </a:outerShdw>
          </a:effectLst>
        </p:spPr>
      </p:sp>
      <p:sp>
        <p:nvSpPr>
          <p:cNvPr id="2013131421" name="Text 6"/>
          <p:cNvSpPr txBox="1"/>
          <p:nvPr/>
        </p:nvSpPr>
        <p:spPr bwMode="auto">
          <a:xfrm>
            <a:off x="2706624" y="1508759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4000" b="1">
                <a:solidFill>
                  <a:schemeClr val="accent1"/>
                </a:solidFill>
                <a:latin typeface="Calibri"/>
                <a:ea typeface="Calibri"/>
                <a:cs typeface="Calibri"/>
              </a:rPr>
              <a:t>100 %</a:t>
            </a:r>
            <a:endParaRPr lang="en-US" sz="4000"/>
          </a:p>
        </p:txBody>
      </p:sp>
      <p:sp>
        <p:nvSpPr>
          <p:cNvPr id="1996283907" name="Text 7"/>
          <p:cNvSpPr txBox="1"/>
          <p:nvPr/>
        </p:nvSpPr>
        <p:spPr bwMode="auto">
          <a:xfrm>
            <a:off x="2706624" y="2286000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chemeClr val="tx1"/>
                </a:solidFill>
              </a:rPr>
              <a:t>de cambios gobernados con aprobador humano registrado</a:t>
            </a:r>
            <a:endParaRPr lang="en-US" sz="1200"/>
          </a:p>
        </p:txBody>
      </p:sp>
      <p:sp>
        <p:nvSpPr>
          <p:cNvPr id="15097235" name="dato 3"/>
          <p:cNvSpPr/>
          <p:nvPr/>
        </p:nvSpPr>
        <p:spPr bwMode="auto">
          <a:xfrm>
            <a:off x="4681728" y="1417320"/>
            <a:ext cx="1883664" cy="16916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76200" dist="25400" dir="5400000" sx="100000" sy="100000" kx="0" ky="0" algn="bl" rotWithShape="0">
              <a:srgbClr val="0B3C49">
                <a:alpha val="14000"/>
              </a:srgbClr>
            </a:outerShdw>
          </a:effectLst>
        </p:spPr>
      </p:sp>
      <p:sp>
        <p:nvSpPr>
          <p:cNvPr id="1943357778" name="Text 9"/>
          <p:cNvSpPr txBox="1"/>
          <p:nvPr/>
        </p:nvSpPr>
        <p:spPr bwMode="auto">
          <a:xfrm>
            <a:off x="4818888" y="1508759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4000" b="1">
                <a:solidFill>
                  <a:schemeClr val="accent1"/>
                </a:solidFill>
                <a:latin typeface="Calibri"/>
                <a:ea typeface="Calibri"/>
                <a:cs typeface="Calibri"/>
              </a:rPr>
              <a:t>6–12</a:t>
            </a:r>
            <a:endParaRPr lang="en-US" sz="4000"/>
          </a:p>
        </p:txBody>
      </p:sp>
      <p:sp>
        <p:nvSpPr>
          <p:cNvPr id="1326025737" name="Text 10"/>
          <p:cNvSpPr txBox="1"/>
          <p:nvPr/>
        </p:nvSpPr>
        <p:spPr bwMode="auto">
          <a:xfrm>
            <a:off x="4818888" y="2286000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chemeClr val="tx1"/>
                </a:solidFill>
              </a:rPr>
              <a:t>meses de anticipación en alertas de obsolescencia</a:t>
            </a:r>
            <a:endParaRPr lang="en-US" sz="1200"/>
          </a:p>
        </p:txBody>
      </p:sp>
      <p:sp>
        <p:nvSpPr>
          <p:cNvPr id="1733328567" name="dato 4"/>
          <p:cNvSpPr/>
          <p:nvPr/>
        </p:nvSpPr>
        <p:spPr bwMode="auto">
          <a:xfrm>
            <a:off x="6793992" y="1417320"/>
            <a:ext cx="1883664" cy="16916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76200" dist="25400" dir="5400000" sx="100000" sy="100000" kx="0" ky="0" algn="bl" rotWithShape="0">
              <a:srgbClr val="0B3C49">
                <a:alpha val="14000"/>
              </a:srgbClr>
            </a:outerShdw>
          </a:effectLst>
        </p:spPr>
      </p:sp>
      <p:sp>
        <p:nvSpPr>
          <p:cNvPr id="1700771868" name="Text 12"/>
          <p:cNvSpPr txBox="1"/>
          <p:nvPr/>
        </p:nvSpPr>
        <p:spPr bwMode="auto">
          <a:xfrm>
            <a:off x="6931152" y="1508759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4000" b="1">
                <a:solidFill>
                  <a:schemeClr val="accent1"/>
                </a:solidFill>
                <a:latin typeface="Calibri"/>
                <a:ea typeface="Calibri"/>
                <a:cs typeface="Calibri"/>
              </a:rPr>
              <a:t>0</a:t>
            </a:r>
            <a:endParaRPr lang="en-US" sz="4000"/>
          </a:p>
        </p:txBody>
      </p:sp>
      <p:sp>
        <p:nvSpPr>
          <p:cNvPr id="47561252" name="Text 13"/>
          <p:cNvSpPr txBox="1"/>
          <p:nvPr/>
        </p:nvSpPr>
        <p:spPr bwMode="auto">
          <a:xfrm>
            <a:off x="6931152" y="2286000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chemeClr val="tx1"/>
                </a:solidFill>
              </a:rPr>
              <a:t>en licencias: construcción con fuentes abiertas</a:t>
            </a:r>
            <a:endParaRPr lang="en-US" sz="1200"/>
          </a:p>
        </p:txBody>
      </p:sp>
      <p:sp>
        <p:nvSpPr>
          <p:cNvPr id="321641854" name="Diferencial círculo"/>
          <p:cNvSpPr/>
          <p:nvPr/>
        </p:nvSpPr>
        <p:spPr bwMode="auto">
          <a:xfrm>
            <a:off x="457200" y="3429000"/>
            <a:ext cx="502920" cy="502920"/>
          </a:xfrm>
          <a:prstGeom prst="ellipse">
            <a:avLst/>
          </a:prstGeom>
          <a:solidFill>
            <a:srgbClr val="3F8F6B"/>
          </a:solidFill>
          <a:ln w="12700">
            <a:solidFill>
              <a:srgbClr val="3F8F6B"/>
            </a:solidFill>
            <a:prstDash val="solid"/>
          </a:ln>
        </p:spPr>
      </p:sp>
      <p:pic>
        <p:nvPicPr>
          <p:cNvPr id="1149158221" name="Diferencial icono" descr="Diferencial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82930" y="3554730"/>
            <a:ext cx="251460" cy="251460"/>
          </a:xfrm>
          <a:prstGeom prst="rect">
            <a:avLst/>
          </a:prstGeom>
        </p:spPr>
      </p:pic>
      <p:sp>
        <p:nvSpPr>
          <p:cNvPr id="612082594" name="Text 15"/>
          <p:cNvSpPr txBox="1"/>
          <p:nvPr/>
        </p:nvSpPr>
        <p:spPr bwMode="auto">
          <a:xfrm>
            <a:off x="1078992" y="33832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 b="1">
                <a:solidFill>
                  <a:schemeClr val="tx2"/>
                </a:solidFill>
              </a:rPr>
              <a:t>Diferencial</a:t>
            </a:r>
            <a:endParaRPr lang="en-US" sz="1500"/>
          </a:p>
        </p:txBody>
      </p:sp>
      <p:sp>
        <p:nvSpPr>
          <p:cNvPr id="1118033759" name="Text 16"/>
          <p:cNvSpPr txBox="1"/>
          <p:nvPr/>
        </p:nvSpPr>
        <p:spPr bwMode="auto">
          <a:xfrm>
            <a:off x="1078992" y="36941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chemeClr val="tx1"/>
                </a:solidFill>
              </a:rPr>
              <a:t>Minería de contratos y TDRs: ninguna herramienta revisada la documenta</a:t>
            </a:r>
            <a:endParaRPr lang="en-US" sz="1200"/>
          </a:p>
        </p:txBody>
      </p:sp>
      <p:sp>
        <p:nvSpPr>
          <p:cNvPr id="1378892928" name="Procedencia círculo"/>
          <p:cNvSpPr/>
          <p:nvPr/>
        </p:nvSpPr>
        <p:spPr bwMode="auto">
          <a:xfrm>
            <a:off x="3246120" y="3429000"/>
            <a:ext cx="502920" cy="502920"/>
          </a:xfrm>
          <a:prstGeom prst="ellipse">
            <a:avLst/>
          </a:prstGeom>
          <a:solidFill>
            <a:srgbClr val="3F8F6B"/>
          </a:solidFill>
          <a:ln w="12700">
            <a:solidFill>
              <a:srgbClr val="3F8F6B"/>
            </a:solidFill>
            <a:prstDash val="solid"/>
          </a:ln>
        </p:spPr>
      </p:sp>
      <p:pic>
        <p:nvPicPr>
          <p:cNvPr id="1553459062" name="Procedencia icono" descr="Procedencia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371850" y="3554730"/>
            <a:ext cx="251460" cy="251460"/>
          </a:xfrm>
          <a:prstGeom prst="rect">
            <a:avLst/>
          </a:prstGeom>
        </p:spPr>
      </p:pic>
      <p:sp>
        <p:nvSpPr>
          <p:cNvPr id="849760213" name="Text 18"/>
          <p:cNvSpPr txBox="1"/>
          <p:nvPr/>
        </p:nvSpPr>
        <p:spPr bwMode="auto">
          <a:xfrm>
            <a:off x="3867911" y="33832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 b="1">
                <a:solidFill>
                  <a:schemeClr val="tx2"/>
                </a:solidFill>
              </a:rPr>
              <a:t>Procedencia</a:t>
            </a:r>
            <a:endParaRPr lang="en-US" sz="1500"/>
          </a:p>
        </p:txBody>
      </p:sp>
      <p:sp>
        <p:nvSpPr>
          <p:cNvPr id="1237437721" name="Text 19"/>
          <p:cNvSpPr txBox="1"/>
          <p:nvPr/>
        </p:nvSpPr>
        <p:spPr bwMode="auto">
          <a:xfrm>
            <a:off x="3867911" y="36941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chemeClr val="tx1"/>
                </a:solidFill>
              </a:rPr>
              <a:t>Cada atributo guarda fuente, método y cita a línea o cláusula</a:t>
            </a:r>
            <a:endParaRPr lang="en-US" sz="1200"/>
          </a:p>
        </p:txBody>
      </p:sp>
      <p:sp>
        <p:nvSpPr>
          <p:cNvPr id="1793079299" name="Menos fricción círculo"/>
          <p:cNvSpPr/>
          <p:nvPr/>
        </p:nvSpPr>
        <p:spPr bwMode="auto">
          <a:xfrm>
            <a:off x="6035039" y="3429000"/>
            <a:ext cx="502920" cy="502920"/>
          </a:xfrm>
          <a:prstGeom prst="ellipse">
            <a:avLst/>
          </a:prstGeom>
          <a:solidFill>
            <a:srgbClr val="3F8F6B"/>
          </a:solidFill>
          <a:ln w="12700">
            <a:solidFill>
              <a:srgbClr val="3F8F6B"/>
            </a:solidFill>
            <a:prstDash val="solid"/>
          </a:ln>
        </p:spPr>
      </p:sp>
      <p:pic>
        <p:nvPicPr>
          <p:cNvPr id="2117535545" name="Menos fricción icono" descr="Menos fricción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160770" y="3554730"/>
            <a:ext cx="251460" cy="251460"/>
          </a:xfrm>
          <a:prstGeom prst="rect">
            <a:avLst/>
          </a:prstGeom>
        </p:spPr>
      </p:pic>
      <p:sp>
        <p:nvSpPr>
          <p:cNvPr id="779219920" name="Text 21"/>
          <p:cNvSpPr txBox="1"/>
          <p:nvPr/>
        </p:nvSpPr>
        <p:spPr bwMode="auto">
          <a:xfrm>
            <a:off x="6656832" y="33832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 b="1">
                <a:solidFill>
                  <a:schemeClr val="tx2"/>
                </a:solidFill>
              </a:rPr>
              <a:t>Menos fricción</a:t>
            </a:r>
            <a:endParaRPr lang="en-US" sz="1500"/>
          </a:p>
        </p:txBody>
      </p:sp>
      <p:sp>
        <p:nvSpPr>
          <p:cNvPr id="2106314316" name="Text 22"/>
          <p:cNvSpPr txBox="1"/>
          <p:nvPr/>
        </p:nvSpPr>
        <p:spPr bwMode="auto">
          <a:xfrm>
            <a:off x="6656832" y="36941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chemeClr val="tx1"/>
                </a:solidFill>
              </a:rPr>
              <a:t>Preguntas de un clic en lugar de cuestionarios extensos</a:t>
            </a:r>
            <a:endParaRPr lang="en-US" sz="1200"/>
          </a:p>
        </p:txBody>
      </p:sp>
      <p:sp>
        <p:nvSpPr>
          <p:cNvPr id="1944618012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8229600" y="475488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128395" name="Text 0"/>
          <p:cNvSpPr/>
          <p:nvPr>
            <p:ph type="title" idx="100" hasCustomPrompt="1"/>
          </p:nvPr>
        </p:nvSpPr>
        <p:spPr bwMode="auto"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2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Retos y riesgos</a:t>
            </a:r>
            <a:endParaRPr lang="en-US" sz="3200"/>
          </a:p>
        </p:txBody>
      </p:sp>
      <p:sp>
        <p:nvSpPr>
          <p:cNvPr id="1736251426" name="Text 0"/>
          <p:cNvSpPr/>
          <p:nvPr>
            <p:ph type="body" idx="101" hasCustomPrompt="1"/>
          </p:nvPr>
        </p:nvSpPr>
        <p:spPr bwMode="auto">
          <a:xfrm>
            <a:off x="457200" y="85953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/>
            </a:pPr>
            <a:r>
              <a:rPr lang="en-US" sz="1600">
                <a:solidFill>
                  <a:schemeClr val="accent3"/>
                </a:solidFill>
                <a:latin typeface="Calibri"/>
                <a:ea typeface="Calibri"/>
                <a:cs typeface="Calibri"/>
              </a:rPr>
              <a:t>Lo que podría salir mal y cómo lo bloquea el diseño</a:t>
            </a:r>
            <a:endParaRPr lang="en-US" sz="1600"/>
          </a:p>
        </p:txBody>
      </p:sp>
      <p:sp>
        <p:nvSpPr>
          <p:cNvPr id="181749062" name="Text 2"/>
          <p:cNvSpPr txBox="1"/>
          <p:nvPr/>
        </p:nvSpPr>
        <p:spPr bwMode="auto">
          <a:xfrm>
            <a:off x="457200" y="12801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200">
                <a:solidFill>
                  <a:schemeClr val="accent4"/>
                </a:solidFill>
              </a:rPr>
              <a:t>Riesgo</a:t>
            </a:r>
            <a:endParaRPr lang="en-US" sz="1100"/>
          </a:p>
        </p:txBody>
      </p:sp>
      <p:sp>
        <p:nvSpPr>
          <p:cNvPr id="1275725020" name="Text 3"/>
          <p:cNvSpPr txBox="1"/>
          <p:nvPr/>
        </p:nvSpPr>
        <p:spPr bwMode="auto">
          <a:xfrm>
            <a:off x="3703320" y="12801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200">
                <a:solidFill>
                  <a:schemeClr val="accent5"/>
                </a:solidFill>
              </a:rPr>
              <a:t>Mitigación por diseño</a:t>
            </a:r>
            <a:endParaRPr lang="en-US" sz="1100"/>
          </a:p>
        </p:txBody>
      </p:sp>
      <p:sp>
        <p:nvSpPr>
          <p:cNvPr id="969209251" name="riesgo 1"/>
          <p:cNvSpPr/>
          <p:nvPr/>
        </p:nvSpPr>
        <p:spPr bwMode="auto">
          <a:xfrm>
            <a:off x="457200" y="1600200"/>
            <a:ext cx="3017519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10219164" name="Score y umbral sin calibrar círculo"/>
          <p:cNvSpPr/>
          <p:nvPr/>
        </p:nvSpPr>
        <p:spPr bwMode="auto">
          <a:xfrm>
            <a:off x="548640" y="1673352"/>
            <a:ext cx="365760" cy="365760"/>
          </a:xfrm>
          <a:prstGeom prst="ellipse">
            <a:avLst/>
          </a:prstGeom>
          <a:solidFill>
            <a:srgbClr val="C4533A"/>
          </a:solidFill>
          <a:ln w="12700">
            <a:solidFill>
              <a:srgbClr val="C4533A"/>
            </a:solidFill>
            <a:prstDash val="solid"/>
          </a:ln>
        </p:spPr>
      </p:sp>
      <p:pic>
        <p:nvPicPr>
          <p:cNvPr id="1878575414" name="Score y umbral sin calibrar icono" descr="Score y umbral sin calibrar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40080" y="1764792"/>
            <a:ext cx="182880" cy="182880"/>
          </a:xfrm>
          <a:prstGeom prst="rect">
            <a:avLst/>
          </a:prstGeom>
        </p:spPr>
      </p:pic>
      <p:sp>
        <p:nvSpPr>
          <p:cNvPr id="1240153455" name="Text 6"/>
          <p:cNvSpPr txBox="1"/>
          <p:nvPr/>
        </p:nvSpPr>
        <p:spPr bwMode="auto">
          <a:xfrm>
            <a:off x="1005840" y="1600200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chemeClr val="tx2"/>
                </a:solidFill>
              </a:rPr>
              <a:t>Score y umbral sin calibrar</a:t>
            </a:r>
            <a:endParaRPr lang="en-US" sz="1200"/>
          </a:p>
        </p:txBody>
      </p:sp>
      <p:sp>
        <p:nvSpPr>
          <p:cNvPr id="357682621" name="riesgo a mitigación 1"/>
          <p:cNvSpPr/>
          <p:nvPr/>
        </p:nvSpPr>
        <p:spPr bwMode="auto">
          <a:xfrm>
            <a:off x="3493008" y="1856232"/>
            <a:ext cx="164592" cy="914"/>
          </a:xfrm>
          <a:prstGeom prst="line">
            <a:avLst/>
          </a:prstGeom>
          <a:noFill/>
          <a:ln w="19050">
            <a:solidFill>
              <a:srgbClr val="5F7480"/>
            </a:solidFill>
            <a:prstDash val="solid"/>
            <a:tailEnd type="triangle"/>
          </a:ln>
        </p:spPr>
      </p:sp>
      <p:sp>
        <p:nvSpPr>
          <p:cNvPr id="792632857" name="mitigación 1"/>
          <p:cNvSpPr/>
          <p:nvPr/>
        </p:nvSpPr>
        <p:spPr bwMode="auto">
          <a:xfrm>
            <a:off x="3703320" y="1600200"/>
            <a:ext cx="4983480" cy="512064"/>
          </a:xfrm>
          <a:prstGeom prst="roundRect">
            <a:avLst>
              <a:gd name="adj" fmla="val 14286"/>
            </a:avLst>
          </a:prstGeom>
          <a:solidFill>
            <a:schemeClr val="accent5">
              <a:alpha val="12000"/>
            </a:schemeClr>
          </a:solidFill>
          <a:ln w="12700">
            <a:solidFill>
              <a:schemeClr val="accent5">
                <a:alpha val="12000"/>
              </a:schemeClr>
            </a:solidFill>
            <a:prstDash val="solid"/>
          </a:ln>
        </p:spPr>
      </p:sp>
      <p:sp>
        <p:nvSpPr>
          <p:cNvPr id="276328716" name="Text 9"/>
          <p:cNvSpPr txBox="1"/>
          <p:nvPr/>
        </p:nvSpPr>
        <p:spPr bwMode="auto">
          <a:xfrm>
            <a:off x="3840480" y="1600200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chemeClr val="tx1"/>
                </a:solidFill>
              </a:rPr>
              <a:t>Piloto de calibración con un conjunto verificado antes de F3 y F4</a:t>
            </a:r>
            <a:endParaRPr lang="en-US" sz="1200"/>
          </a:p>
        </p:txBody>
      </p:sp>
      <p:sp>
        <p:nvSpPr>
          <p:cNvPr id="746526165" name="riesgo 2"/>
          <p:cNvSpPr/>
          <p:nvPr/>
        </p:nvSpPr>
        <p:spPr bwMode="auto">
          <a:xfrm>
            <a:off x="457200" y="2203704"/>
            <a:ext cx="3017519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33959221" name="Carga de revisión humana círculo"/>
          <p:cNvSpPr/>
          <p:nvPr/>
        </p:nvSpPr>
        <p:spPr bwMode="auto">
          <a:xfrm>
            <a:off x="548640" y="2276856"/>
            <a:ext cx="365760" cy="365760"/>
          </a:xfrm>
          <a:prstGeom prst="ellipse">
            <a:avLst/>
          </a:prstGeom>
          <a:solidFill>
            <a:srgbClr val="C4533A"/>
          </a:solidFill>
          <a:ln w="12700">
            <a:solidFill>
              <a:srgbClr val="C4533A"/>
            </a:solidFill>
            <a:prstDash val="solid"/>
          </a:ln>
        </p:spPr>
      </p:sp>
      <p:pic>
        <p:nvPicPr>
          <p:cNvPr id="124602564" name="Carga de revisión humana icono" descr="Carga de revisión humana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40080" y="2368296"/>
            <a:ext cx="182880" cy="182880"/>
          </a:xfrm>
          <a:prstGeom prst="rect">
            <a:avLst/>
          </a:prstGeom>
        </p:spPr>
      </p:pic>
      <p:sp>
        <p:nvSpPr>
          <p:cNvPr id="994292560" name="Text 12"/>
          <p:cNvSpPr txBox="1"/>
          <p:nvPr/>
        </p:nvSpPr>
        <p:spPr bwMode="auto">
          <a:xfrm>
            <a:off x="1005840" y="2203704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chemeClr val="tx2"/>
                </a:solidFill>
              </a:rPr>
              <a:t>Carga de revisión humana</a:t>
            </a:r>
            <a:endParaRPr lang="en-US" sz="1200"/>
          </a:p>
        </p:txBody>
      </p:sp>
      <p:sp>
        <p:nvSpPr>
          <p:cNvPr id="2046443614" name="riesgo a mitigación 2"/>
          <p:cNvSpPr/>
          <p:nvPr/>
        </p:nvSpPr>
        <p:spPr bwMode="auto">
          <a:xfrm>
            <a:off x="3493008" y="2459735"/>
            <a:ext cx="164592" cy="914"/>
          </a:xfrm>
          <a:prstGeom prst="line">
            <a:avLst/>
          </a:prstGeom>
          <a:noFill/>
          <a:ln w="19050">
            <a:solidFill>
              <a:srgbClr val="5F7480"/>
            </a:solidFill>
            <a:prstDash val="solid"/>
            <a:tailEnd type="triangle"/>
          </a:ln>
        </p:spPr>
      </p:sp>
      <p:sp>
        <p:nvSpPr>
          <p:cNvPr id="176900916" name="mitigación 2"/>
          <p:cNvSpPr/>
          <p:nvPr/>
        </p:nvSpPr>
        <p:spPr bwMode="auto">
          <a:xfrm>
            <a:off x="3703320" y="2203704"/>
            <a:ext cx="4983480" cy="512064"/>
          </a:xfrm>
          <a:prstGeom prst="roundRect">
            <a:avLst>
              <a:gd name="adj" fmla="val 14286"/>
            </a:avLst>
          </a:prstGeom>
          <a:solidFill>
            <a:schemeClr val="accent5">
              <a:alpha val="12000"/>
            </a:schemeClr>
          </a:solidFill>
          <a:ln w="12700">
            <a:solidFill>
              <a:schemeClr val="accent5">
                <a:alpha val="12000"/>
              </a:schemeClr>
            </a:solidFill>
            <a:prstDash val="solid"/>
          </a:ln>
        </p:spPr>
      </p:sp>
      <p:sp>
        <p:nvSpPr>
          <p:cNvPr id="440275323" name="Text 15"/>
          <p:cNvSpPr txBox="1"/>
          <p:nvPr/>
        </p:nvSpPr>
        <p:spPr bwMode="auto">
          <a:xfrm>
            <a:off x="3840480" y="2203704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chemeClr val="tx1"/>
                </a:solidFill>
              </a:rPr>
              <a:t>SLA propuesto de 5 días hábiles y métricas de cola desde el inicio</a:t>
            </a:r>
            <a:endParaRPr lang="en-US" sz="1200"/>
          </a:p>
        </p:txBody>
      </p:sp>
      <p:sp>
        <p:nvSpPr>
          <p:cNvPr id="200914596" name="riesgo 3"/>
          <p:cNvSpPr/>
          <p:nvPr/>
        </p:nvSpPr>
        <p:spPr bwMode="auto">
          <a:xfrm>
            <a:off x="457200" y="2807208"/>
            <a:ext cx="3017519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51183134" name="Sesgo de automatización círculo"/>
          <p:cNvSpPr/>
          <p:nvPr/>
        </p:nvSpPr>
        <p:spPr bwMode="auto">
          <a:xfrm>
            <a:off x="548640" y="2880360"/>
            <a:ext cx="365760" cy="365760"/>
          </a:xfrm>
          <a:prstGeom prst="ellipse">
            <a:avLst/>
          </a:prstGeom>
          <a:solidFill>
            <a:srgbClr val="C4533A"/>
          </a:solidFill>
          <a:ln w="12700">
            <a:solidFill>
              <a:srgbClr val="C4533A"/>
            </a:solidFill>
            <a:prstDash val="solid"/>
          </a:ln>
        </p:spPr>
      </p:sp>
      <p:pic>
        <p:nvPicPr>
          <p:cNvPr id="1416408404" name="Sesgo de automatización icono" descr="Sesgo de automatización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40080" y="2971800"/>
            <a:ext cx="182880" cy="182880"/>
          </a:xfrm>
          <a:prstGeom prst="rect">
            <a:avLst/>
          </a:prstGeom>
        </p:spPr>
      </p:pic>
      <p:sp>
        <p:nvSpPr>
          <p:cNvPr id="1282724217" name="Text 18"/>
          <p:cNvSpPr txBox="1"/>
          <p:nvPr/>
        </p:nvSpPr>
        <p:spPr bwMode="auto">
          <a:xfrm>
            <a:off x="1005840" y="2807208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chemeClr val="tx2"/>
                </a:solidFill>
              </a:rPr>
              <a:t>Sesgo de automatización</a:t>
            </a:r>
            <a:endParaRPr lang="en-US" sz="1200"/>
          </a:p>
        </p:txBody>
      </p:sp>
      <p:sp>
        <p:nvSpPr>
          <p:cNvPr id="169456518" name="riesgo a mitigación 3"/>
          <p:cNvSpPr/>
          <p:nvPr/>
        </p:nvSpPr>
        <p:spPr bwMode="auto">
          <a:xfrm>
            <a:off x="3493008" y="3063240"/>
            <a:ext cx="164592" cy="914"/>
          </a:xfrm>
          <a:prstGeom prst="line">
            <a:avLst/>
          </a:prstGeom>
          <a:noFill/>
          <a:ln w="19050">
            <a:solidFill>
              <a:srgbClr val="5F7480"/>
            </a:solidFill>
            <a:prstDash val="solid"/>
            <a:tailEnd type="triangle"/>
          </a:ln>
        </p:spPr>
      </p:sp>
      <p:sp>
        <p:nvSpPr>
          <p:cNvPr id="1764023890" name="mitigación 3"/>
          <p:cNvSpPr/>
          <p:nvPr/>
        </p:nvSpPr>
        <p:spPr bwMode="auto">
          <a:xfrm>
            <a:off x="3703320" y="2807208"/>
            <a:ext cx="4983480" cy="512064"/>
          </a:xfrm>
          <a:prstGeom prst="roundRect">
            <a:avLst>
              <a:gd name="adj" fmla="val 14286"/>
            </a:avLst>
          </a:prstGeom>
          <a:solidFill>
            <a:schemeClr val="accent5">
              <a:alpha val="12000"/>
            </a:schemeClr>
          </a:solidFill>
          <a:ln w="12700">
            <a:solidFill>
              <a:schemeClr val="accent5">
                <a:alpha val="12000"/>
              </a:schemeClr>
            </a:solidFill>
            <a:prstDash val="solid"/>
          </a:ln>
        </p:spPr>
      </p:sp>
      <p:sp>
        <p:nvSpPr>
          <p:cNvPr id="1349817562" name="Text 21"/>
          <p:cNvSpPr txBox="1"/>
          <p:nvPr/>
        </p:nvSpPr>
        <p:spPr bwMode="auto">
          <a:xfrm>
            <a:off x="3840480" y="2807208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chemeClr val="tx1"/>
                </a:solidFill>
              </a:rPr>
              <a:t>Aprobar solo tras ver evidencia y diff; sin lotes de baja confianza</a:t>
            </a:r>
            <a:endParaRPr lang="en-US" sz="1200"/>
          </a:p>
        </p:txBody>
      </p:sp>
      <p:sp>
        <p:nvSpPr>
          <p:cNvPr id="1538578362" name="riesgo 4"/>
          <p:cNvSpPr/>
          <p:nvPr/>
        </p:nvSpPr>
        <p:spPr bwMode="auto">
          <a:xfrm>
            <a:off x="457200" y="3410712"/>
            <a:ext cx="3017519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34830370" name="Datos personales círculo"/>
          <p:cNvSpPr/>
          <p:nvPr/>
        </p:nvSpPr>
        <p:spPr bwMode="auto">
          <a:xfrm>
            <a:off x="548640" y="3483864"/>
            <a:ext cx="365760" cy="365760"/>
          </a:xfrm>
          <a:prstGeom prst="ellipse">
            <a:avLst/>
          </a:prstGeom>
          <a:solidFill>
            <a:srgbClr val="C4533A"/>
          </a:solidFill>
          <a:ln w="12700">
            <a:solidFill>
              <a:srgbClr val="C4533A"/>
            </a:solidFill>
            <a:prstDash val="solid"/>
          </a:ln>
        </p:spPr>
      </p:sp>
      <p:pic>
        <p:nvPicPr>
          <p:cNvPr id="1926566019" name="Datos personales icono" descr="Datos personales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640080" y="3575303"/>
            <a:ext cx="182880" cy="182880"/>
          </a:xfrm>
          <a:prstGeom prst="rect">
            <a:avLst/>
          </a:prstGeom>
        </p:spPr>
      </p:pic>
      <p:sp>
        <p:nvSpPr>
          <p:cNvPr id="205949274" name="Text 24"/>
          <p:cNvSpPr txBox="1"/>
          <p:nvPr/>
        </p:nvSpPr>
        <p:spPr bwMode="auto">
          <a:xfrm>
            <a:off x="1005840" y="341071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chemeClr val="tx2"/>
                </a:solidFill>
              </a:rPr>
              <a:t>Datos personales</a:t>
            </a:r>
            <a:endParaRPr lang="en-US" sz="1200"/>
          </a:p>
        </p:txBody>
      </p:sp>
      <p:sp>
        <p:nvSpPr>
          <p:cNvPr id="500019314" name="riesgo a mitigación 4"/>
          <p:cNvSpPr/>
          <p:nvPr/>
        </p:nvSpPr>
        <p:spPr bwMode="auto">
          <a:xfrm>
            <a:off x="3493008" y="3666744"/>
            <a:ext cx="164592" cy="914"/>
          </a:xfrm>
          <a:prstGeom prst="line">
            <a:avLst/>
          </a:prstGeom>
          <a:noFill/>
          <a:ln w="19050">
            <a:solidFill>
              <a:srgbClr val="5F7480"/>
            </a:solidFill>
            <a:prstDash val="solid"/>
            <a:tailEnd type="triangle"/>
          </a:ln>
        </p:spPr>
      </p:sp>
      <p:sp>
        <p:nvSpPr>
          <p:cNvPr id="1603439379" name="mitigación 4"/>
          <p:cNvSpPr/>
          <p:nvPr/>
        </p:nvSpPr>
        <p:spPr bwMode="auto">
          <a:xfrm>
            <a:off x="3703320" y="3410712"/>
            <a:ext cx="4983480" cy="512064"/>
          </a:xfrm>
          <a:prstGeom prst="roundRect">
            <a:avLst>
              <a:gd name="adj" fmla="val 14286"/>
            </a:avLst>
          </a:prstGeom>
          <a:solidFill>
            <a:schemeClr val="accent5">
              <a:alpha val="12000"/>
            </a:schemeClr>
          </a:solidFill>
          <a:ln w="12700">
            <a:solidFill>
              <a:schemeClr val="accent5">
                <a:alpha val="12000"/>
              </a:schemeClr>
            </a:solidFill>
            <a:prstDash val="solid"/>
          </a:ln>
        </p:spPr>
      </p:sp>
      <p:sp>
        <p:nvSpPr>
          <p:cNvPr id="2009696248" name="Text 27"/>
          <p:cNvSpPr txBox="1"/>
          <p:nvPr/>
        </p:nvSpPr>
        <p:spPr bwMode="auto">
          <a:xfrm>
            <a:off x="3840480" y="3410712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chemeClr val="tx1"/>
                </a:solidFill>
              </a:rPr>
              <a:t>Minimización y seudonimización de autores y firmantes</a:t>
            </a:r>
            <a:endParaRPr lang="en-US" sz="1200"/>
          </a:p>
        </p:txBody>
      </p:sp>
      <p:sp>
        <p:nvSpPr>
          <p:cNvPr id="1266736589" name="riesgo 5"/>
          <p:cNvSpPr/>
          <p:nvPr/>
        </p:nvSpPr>
        <p:spPr bwMode="auto">
          <a:xfrm>
            <a:off x="457200" y="4014216"/>
            <a:ext cx="3017519" cy="512064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84665691" name="Construcción propia vs. productos maduros círculo"/>
          <p:cNvSpPr/>
          <p:nvPr/>
        </p:nvSpPr>
        <p:spPr bwMode="auto">
          <a:xfrm>
            <a:off x="548640" y="4087368"/>
            <a:ext cx="365760" cy="365760"/>
          </a:xfrm>
          <a:prstGeom prst="ellipse">
            <a:avLst/>
          </a:prstGeom>
          <a:solidFill>
            <a:srgbClr val="C4533A"/>
          </a:solidFill>
          <a:ln w="12700">
            <a:solidFill>
              <a:srgbClr val="C4533A"/>
            </a:solidFill>
            <a:prstDash val="solid"/>
          </a:ln>
        </p:spPr>
      </p:sp>
      <p:pic>
        <p:nvPicPr>
          <p:cNvPr id="490002525" name="Construcción propia vs. productos maduros icono" descr="Construcción propia vs. productos maduros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640080" y="4178808"/>
            <a:ext cx="182880" cy="182880"/>
          </a:xfrm>
          <a:prstGeom prst="rect">
            <a:avLst/>
          </a:prstGeom>
        </p:spPr>
      </p:pic>
      <p:sp>
        <p:nvSpPr>
          <p:cNvPr id="390533243" name="Text 30"/>
          <p:cNvSpPr txBox="1"/>
          <p:nvPr/>
        </p:nvSpPr>
        <p:spPr bwMode="auto">
          <a:xfrm>
            <a:off x="1005840" y="4014216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chemeClr val="tx2"/>
                </a:solidFill>
              </a:rPr>
              <a:t>Construcción propia vs. productos maduros</a:t>
            </a:r>
            <a:endParaRPr lang="en-US" sz="1200"/>
          </a:p>
        </p:txBody>
      </p:sp>
      <p:sp>
        <p:nvSpPr>
          <p:cNvPr id="1118523002" name="riesgo a mitigación 5"/>
          <p:cNvSpPr/>
          <p:nvPr/>
        </p:nvSpPr>
        <p:spPr bwMode="auto">
          <a:xfrm>
            <a:off x="3493008" y="4270248"/>
            <a:ext cx="164592" cy="914"/>
          </a:xfrm>
          <a:prstGeom prst="line">
            <a:avLst/>
          </a:prstGeom>
          <a:noFill/>
          <a:ln w="19050">
            <a:solidFill>
              <a:srgbClr val="5F7480"/>
            </a:solidFill>
            <a:prstDash val="solid"/>
            <a:tailEnd type="triangle"/>
          </a:ln>
        </p:spPr>
      </p:sp>
      <p:sp>
        <p:nvSpPr>
          <p:cNvPr id="1968809964" name="mitigación 5"/>
          <p:cNvSpPr/>
          <p:nvPr/>
        </p:nvSpPr>
        <p:spPr bwMode="auto">
          <a:xfrm>
            <a:off x="3703320" y="4014216"/>
            <a:ext cx="4983480" cy="512064"/>
          </a:xfrm>
          <a:prstGeom prst="roundRect">
            <a:avLst>
              <a:gd name="adj" fmla="val 14286"/>
            </a:avLst>
          </a:prstGeom>
          <a:solidFill>
            <a:schemeClr val="accent5">
              <a:alpha val="12000"/>
            </a:schemeClr>
          </a:solidFill>
          <a:ln w="12700">
            <a:solidFill>
              <a:schemeClr val="accent5">
                <a:alpha val="12000"/>
              </a:schemeClr>
            </a:solidFill>
            <a:prstDash val="solid"/>
          </a:ln>
        </p:spPr>
      </p:sp>
      <p:sp>
        <p:nvSpPr>
          <p:cNvPr id="1511771594" name="Text 33"/>
          <p:cNvSpPr txBox="1"/>
          <p:nvPr/>
        </p:nvSpPr>
        <p:spPr bwMode="auto">
          <a:xfrm>
            <a:off x="3840480" y="4014216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chemeClr val="tx1"/>
                </a:solidFill>
              </a:rPr>
              <a:t>Fuentes abiertas, incumbentes como referencia y alcance acotado</a:t>
            </a:r>
            <a:endParaRPr lang="en-US" sz="1200"/>
          </a:p>
        </p:txBody>
      </p:sp>
      <p:sp>
        <p:nvSpPr>
          <p:cNvPr id="949559642" name="Text 34"/>
          <p:cNvSpPr txBox="1"/>
          <p:nvPr/>
        </p:nvSpPr>
        <p:spPr bwMode="auto">
          <a:xfrm>
            <a:off x="457200" y="464515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chemeClr val="tx2"/>
                </a:solidFill>
              </a:rPr>
              <a:t>Mecanismo de detención en 3 niveles: </a:t>
            </a:r>
            <a:r>
              <a:rPr lang="en-US" sz="1100">
                <a:solidFill>
                  <a:schemeClr val="tx1"/>
                </a:solidFill>
              </a:rPr>
              <a:t>detener un agente · solo lectura · sin IA (el APM sigue operando)</a:t>
            </a:r>
            <a:endParaRPr lang="en-US" sz="1100"/>
          </a:p>
        </p:txBody>
      </p:sp>
      <p:sp>
        <p:nvSpPr>
          <p:cNvPr id="1292712917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8229600" y="475488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9717217" name="enlace del grafo"/>
          <p:cNvSpPr/>
          <p:nvPr/>
        </p:nvSpPr>
        <p:spPr bwMode="auto">
          <a:xfrm flipH="1" flipV="1">
            <a:off x="854466" y="1981962"/>
            <a:ext cx="1385814" cy="624078"/>
          </a:xfrm>
          <a:prstGeom prst="line">
            <a:avLst/>
          </a:prstGeom>
          <a:noFill/>
          <a:ln w="12700">
            <a:solidFill>
              <a:srgbClr val="9CC6CB"/>
            </a:solidFill>
            <a:prstDash val="solid"/>
          </a:ln>
        </p:spPr>
      </p:sp>
      <p:sp>
        <p:nvSpPr>
          <p:cNvPr id="1632051851" name="enlace del grafo"/>
          <p:cNvSpPr/>
          <p:nvPr/>
        </p:nvSpPr>
        <p:spPr bwMode="auto">
          <a:xfrm flipH="1" flipV="1">
            <a:off x="2104798" y="1398160"/>
            <a:ext cx="135482" cy="1207880"/>
          </a:xfrm>
          <a:prstGeom prst="line">
            <a:avLst/>
          </a:prstGeom>
          <a:noFill/>
          <a:ln w="12700">
            <a:solidFill>
              <a:srgbClr val="9CC6CB"/>
            </a:solidFill>
            <a:prstDash val="solid"/>
          </a:ln>
        </p:spPr>
      </p:sp>
      <p:sp>
        <p:nvSpPr>
          <p:cNvPr id="614296607" name="enlace del grafo"/>
          <p:cNvSpPr/>
          <p:nvPr/>
        </p:nvSpPr>
        <p:spPr bwMode="auto">
          <a:xfrm flipV="1">
            <a:off x="2240280" y="1890127"/>
            <a:ext cx="1310807" cy="715912"/>
          </a:xfrm>
          <a:prstGeom prst="line">
            <a:avLst/>
          </a:prstGeom>
          <a:noFill/>
          <a:ln w="12700">
            <a:solidFill>
              <a:srgbClr val="9CC6CB"/>
            </a:solidFill>
            <a:prstDash val="solid"/>
          </a:ln>
        </p:spPr>
      </p:sp>
      <p:sp>
        <p:nvSpPr>
          <p:cNvPr id="45396462" name="enlace del grafo"/>
          <p:cNvSpPr/>
          <p:nvPr/>
        </p:nvSpPr>
        <p:spPr bwMode="auto">
          <a:xfrm>
            <a:off x="2240280" y="2606040"/>
            <a:ext cx="1408837" cy="512422"/>
          </a:xfrm>
          <a:prstGeom prst="line">
            <a:avLst/>
          </a:prstGeom>
          <a:noFill/>
          <a:ln w="12700">
            <a:solidFill>
              <a:srgbClr val="9CC6CB"/>
            </a:solidFill>
            <a:prstDash val="solid"/>
          </a:ln>
        </p:spPr>
      </p:sp>
      <p:sp>
        <p:nvSpPr>
          <p:cNvPr id="154102464" name="enlace del grafo"/>
          <p:cNvSpPr/>
          <p:nvPr/>
        </p:nvSpPr>
        <p:spPr bwMode="auto">
          <a:xfrm>
            <a:off x="2240280" y="2606040"/>
            <a:ext cx="914" cy="1141171"/>
          </a:xfrm>
          <a:prstGeom prst="line">
            <a:avLst/>
          </a:prstGeom>
          <a:noFill/>
          <a:ln w="12700">
            <a:solidFill>
              <a:srgbClr val="9CC6CB"/>
            </a:solidFill>
            <a:prstDash val="solid"/>
          </a:ln>
        </p:spPr>
      </p:sp>
      <p:sp>
        <p:nvSpPr>
          <p:cNvPr id="768775777" name="enlace del grafo"/>
          <p:cNvSpPr/>
          <p:nvPr/>
        </p:nvSpPr>
        <p:spPr bwMode="auto">
          <a:xfrm flipH="1">
            <a:off x="854466" y="2606040"/>
            <a:ext cx="1385814" cy="624078"/>
          </a:xfrm>
          <a:prstGeom prst="line">
            <a:avLst/>
          </a:prstGeom>
          <a:noFill/>
          <a:ln w="12700">
            <a:solidFill>
              <a:srgbClr val="9CC6CB"/>
            </a:solidFill>
            <a:prstDash val="solid"/>
          </a:ln>
        </p:spPr>
      </p:sp>
      <p:sp>
        <p:nvSpPr>
          <p:cNvPr id="447321710" name="nodo 1 círculo"/>
          <p:cNvSpPr/>
          <p:nvPr/>
        </p:nvSpPr>
        <p:spPr bwMode="auto">
          <a:xfrm>
            <a:off x="561858" y="1689354"/>
            <a:ext cx="585216" cy="585216"/>
          </a:xfrm>
          <a:prstGeom prst="ellipse">
            <a:avLst/>
          </a:prstGeom>
          <a:solidFill>
            <a:srgbClr val="127C86"/>
          </a:solidFill>
          <a:ln w="12700">
            <a:solidFill>
              <a:srgbClr val="127C86"/>
            </a:solidFill>
            <a:prstDash val="solid"/>
          </a:ln>
        </p:spPr>
      </p:sp>
      <p:pic>
        <p:nvPicPr>
          <p:cNvPr id="667595157" name="nodo 1 icono" descr="nodo 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08162" y="1835658"/>
            <a:ext cx="292608" cy="292608"/>
          </a:xfrm>
          <a:prstGeom prst="rect">
            <a:avLst/>
          </a:prstGeom>
        </p:spPr>
      </p:pic>
      <p:sp>
        <p:nvSpPr>
          <p:cNvPr id="212221482" name="nodo 2 círculo"/>
          <p:cNvSpPr/>
          <p:nvPr/>
        </p:nvSpPr>
        <p:spPr bwMode="auto">
          <a:xfrm>
            <a:off x="1812190" y="1105552"/>
            <a:ext cx="585216" cy="585216"/>
          </a:xfrm>
          <a:prstGeom prst="ellipse">
            <a:avLst/>
          </a:prstGeom>
          <a:solidFill>
            <a:srgbClr val="5F7480"/>
          </a:solidFill>
          <a:ln w="12700">
            <a:solidFill>
              <a:srgbClr val="5F7480"/>
            </a:solidFill>
            <a:prstDash val="solid"/>
          </a:ln>
        </p:spPr>
      </p:sp>
      <p:pic>
        <p:nvPicPr>
          <p:cNvPr id="1817911433" name="nodo 2 icono" descr="nodo 2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958494" y="1251856"/>
            <a:ext cx="292608" cy="292608"/>
          </a:xfrm>
          <a:prstGeom prst="rect">
            <a:avLst/>
          </a:prstGeom>
        </p:spPr>
      </p:pic>
      <p:sp>
        <p:nvSpPr>
          <p:cNvPr id="15213096" name="nodo 3 círculo"/>
          <p:cNvSpPr/>
          <p:nvPr/>
        </p:nvSpPr>
        <p:spPr bwMode="auto">
          <a:xfrm>
            <a:off x="3258479" y="1597519"/>
            <a:ext cx="585216" cy="585216"/>
          </a:xfrm>
          <a:prstGeom prst="ellipse">
            <a:avLst/>
          </a:prstGeom>
          <a:solidFill>
            <a:srgbClr val="127C86"/>
          </a:solidFill>
          <a:ln w="12700">
            <a:solidFill>
              <a:srgbClr val="127C86"/>
            </a:solidFill>
            <a:prstDash val="solid"/>
          </a:ln>
        </p:spPr>
      </p:sp>
      <p:pic>
        <p:nvPicPr>
          <p:cNvPr id="1660050905" name="nodo 3 icono" descr="nodo 3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3404783" y="1743823"/>
            <a:ext cx="292608" cy="292608"/>
          </a:xfrm>
          <a:prstGeom prst="rect">
            <a:avLst/>
          </a:prstGeom>
        </p:spPr>
      </p:pic>
      <p:sp>
        <p:nvSpPr>
          <p:cNvPr id="301928777" name="nodo 4 círculo"/>
          <p:cNvSpPr/>
          <p:nvPr/>
        </p:nvSpPr>
        <p:spPr bwMode="auto">
          <a:xfrm>
            <a:off x="3356509" y="2825854"/>
            <a:ext cx="585216" cy="585216"/>
          </a:xfrm>
          <a:prstGeom prst="ellipse">
            <a:avLst/>
          </a:prstGeom>
          <a:solidFill>
            <a:srgbClr val="3F8F6B"/>
          </a:solidFill>
          <a:ln w="12700">
            <a:solidFill>
              <a:srgbClr val="3F8F6B"/>
            </a:solidFill>
            <a:prstDash val="solid"/>
          </a:ln>
        </p:spPr>
      </p:sp>
      <p:pic>
        <p:nvPicPr>
          <p:cNvPr id="274926432" name="nodo 4 icono" descr="nodo 4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3502813" y="2972158"/>
            <a:ext cx="292608" cy="292608"/>
          </a:xfrm>
          <a:prstGeom prst="rect">
            <a:avLst/>
          </a:prstGeom>
        </p:spPr>
      </p:pic>
      <p:sp>
        <p:nvSpPr>
          <p:cNvPr id="802332296" name="nodo 5 círculo"/>
          <p:cNvSpPr/>
          <p:nvPr/>
        </p:nvSpPr>
        <p:spPr bwMode="auto">
          <a:xfrm>
            <a:off x="1947671" y="3454603"/>
            <a:ext cx="585216" cy="585216"/>
          </a:xfrm>
          <a:prstGeom prst="ellipse">
            <a:avLst/>
          </a:prstGeom>
          <a:solidFill>
            <a:srgbClr val="5F7480"/>
          </a:solidFill>
          <a:ln w="12700">
            <a:solidFill>
              <a:srgbClr val="5F7480"/>
            </a:solidFill>
            <a:prstDash val="solid"/>
          </a:ln>
        </p:spPr>
      </p:sp>
      <p:pic>
        <p:nvPicPr>
          <p:cNvPr id="1810296750" name="nodo 5 icono" descr="nodo 5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2093976" y="3600906"/>
            <a:ext cx="292608" cy="292608"/>
          </a:xfrm>
          <a:prstGeom prst="rect">
            <a:avLst/>
          </a:prstGeom>
        </p:spPr>
      </p:pic>
      <p:sp>
        <p:nvSpPr>
          <p:cNvPr id="1988602097" name="nodo 6 círculo"/>
          <p:cNvSpPr/>
          <p:nvPr/>
        </p:nvSpPr>
        <p:spPr bwMode="auto">
          <a:xfrm>
            <a:off x="561858" y="2937510"/>
            <a:ext cx="585216" cy="585216"/>
          </a:xfrm>
          <a:prstGeom prst="ellipse">
            <a:avLst/>
          </a:prstGeom>
          <a:solidFill>
            <a:srgbClr val="127C86"/>
          </a:solidFill>
          <a:ln w="12700">
            <a:solidFill>
              <a:srgbClr val="127C86"/>
            </a:solidFill>
            <a:prstDash val="solid"/>
          </a:ln>
        </p:spPr>
      </p:sp>
      <p:pic>
        <p:nvPicPr>
          <p:cNvPr id="1497881099" name="nodo 6 icono" descr="nodo 6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708162" y="3083814"/>
            <a:ext cx="292608" cy="292608"/>
          </a:xfrm>
          <a:prstGeom prst="rect">
            <a:avLst/>
          </a:prstGeom>
        </p:spPr>
      </p:pic>
      <p:sp>
        <p:nvSpPr>
          <p:cNvPr id="107252477" name="halo"/>
          <p:cNvSpPr/>
          <p:nvPr/>
        </p:nvSpPr>
        <p:spPr bwMode="auto">
          <a:xfrm>
            <a:off x="1527048" y="1892808"/>
            <a:ext cx="1426464" cy="1426464"/>
          </a:xfrm>
          <a:prstGeom prst="ellipse">
            <a:avLst/>
          </a:prstGeom>
          <a:solidFill>
            <a:srgbClr val="F2A900">
              <a:alpha val="25000"/>
            </a:srgbClr>
          </a:solidFill>
          <a:ln w="12700">
            <a:solidFill>
              <a:srgbClr val="F2A900">
                <a:alpha val="25000"/>
              </a:srgbClr>
            </a:solidFill>
            <a:prstDash val="solid"/>
          </a:ln>
        </p:spPr>
      </p:sp>
      <p:sp>
        <p:nvSpPr>
          <p:cNvPr id="1754446172" name="nodo central círculo"/>
          <p:cNvSpPr/>
          <p:nvPr/>
        </p:nvSpPr>
        <p:spPr bwMode="auto">
          <a:xfrm>
            <a:off x="1691640" y="2057400"/>
            <a:ext cx="1097280" cy="109728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350931682" name="nodo central icono" descr="nodo central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1965960" y="2331720"/>
            <a:ext cx="548640" cy="548640"/>
          </a:xfrm>
          <a:prstGeom prst="rect">
            <a:avLst/>
          </a:prstGeom>
        </p:spPr>
      </p:pic>
      <p:sp>
        <p:nvSpPr>
          <p:cNvPr id="1834595224" name="Text 14"/>
          <p:cNvSpPr txBox="1"/>
          <p:nvPr/>
        </p:nvSpPr>
        <p:spPr bwMode="auto">
          <a:xfrm>
            <a:off x="457200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54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Gracias</a:t>
            </a:r>
            <a:endParaRPr lang="en-US" sz="5400"/>
          </a:p>
        </p:txBody>
      </p:sp>
      <p:sp>
        <p:nvSpPr>
          <p:cNvPr id="1858936942" name="Text 16"/>
          <p:cNvSpPr txBox="1"/>
          <p:nvPr/>
        </p:nvSpPr>
        <p:spPr bwMode="auto">
          <a:xfrm>
            <a:off x="4572000" y="320040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600">
                <a:solidFill>
                  <a:schemeClr val="accent6"/>
                </a:solidFill>
              </a:rPr>
              <a:t>Un catálogo vivo y gobernado: la IA propone, la persona dispone</a:t>
            </a:r>
            <a:endParaRPr lang="en-US" sz="1600"/>
          </a:p>
        </p:txBody>
      </p:sp>
      <p:sp>
        <p:nvSpPr>
          <p:cNvPr id="56682598" name="Text 17"/>
          <p:cNvSpPr txBox="1"/>
          <p:nvPr/>
        </p:nvSpPr>
        <p:spPr bwMode="auto">
          <a:xfrm>
            <a:off x="4572000" y="42062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chemeClr val="accent6"/>
                </a:solidFill>
              </a:rPr>
              <a:t>APM con IA agéntica · </a:t>
            </a:r>
            <a:r>
              <a:rPr lang="es-ES" sz="1200">
                <a:solidFill>
                  <a:schemeClr val="accent6"/>
                </a:solidFill>
              </a:rPr>
              <a:t>Davis Cartagena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_rels/theme3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APM Agentico">
  <a:themeElements>
    <a:clrScheme name="APM Agentico">
      <a:dk1>
        <a:srgbClr val="1E2A30"/>
      </a:dk1>
      <a:lt1>
        <a:srgbClr val="FFFFFF"/>
      </a:lt1>
      <a:dk2>
        <a:srgbClr val="0B3C49"/>
      </a:dk2>
      <a:lt2>
        <a:srgbClr val="EEF3F4"/>
      </a:lt2>
      <a:accent1>
        <a:srgbClr val="127C86"/>
      </a:accent1>
      <a:accent2>
        <a:srgbClr val="F2A900"/>
      </a:accent2>
      <a:accent3>
        <a:srgbClr val="5F7480"/>
      </a:accent3>
      <a:accent4>
        <a:srgbClr val="C4533A"/>
      </a:accent4>
      <a:accent5>
        <a:srgbClr val="3F8F6B"/>
      </a:accent5>
      <a:accent6>
        <a:srgbClr val="9CC6CB"/>
      </a:accent6>
      <a:hlink>
        <a:srgbClr val="127C86"/>
      </a:hlink>
      <a:folHlink>
        <a:srgbClr val="5F7480"/>
      </a:folHlink>
    </a:clrScheme>
    <a:fontScheme name="APM Agentico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APM Agentico">
  <a:themeElements>
    <a:clrScheme name="APM Agentico">
      <a:dk1>
        <a:srgbClr val="1E2A30"/>
      </a:dk1>
      <a:lt1>
        <a:srgbClr val="FFFFFF"/>
      </a:lt1>
      <a:dk2>
        <a:srgbClr val="0B3C49"/>
      </a:dk2>
      <a:lt2>
        <a:srgbClr val="EEF3F4"/>
      </a:lt2>
      <a:accent1>
        <a:srgbClr val="127C86"/>
      </a:accent1>
      <a:accent2>
        <a:srgbClr val="F2A900"/>
      </a:accent2>
      <a:accent3>
        <a:srgbClr val="5F7480"/>
      </a:accent3>
      <a:accent4>
        <a:srgbClr val="C4533A"/>
      </a:accent4>
      <a:accent5>
        <a:srgbClr val="3F8F6B"/>
      </a:accent5>
      <a:accent6>
        <a:srgbClr val="9CC6CB"/>
      </a:accent6>
      <a:hlink>
        <a:srgbClr val="127C86"/>
      </a:hlink>
      <a:folHlink>
        <a:srgbClr val="5F7480"/>
      </a:folHlink>
    </a:clrScheme>
    <a:fontScheme name="APM Agentico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3.xml><?xml version="1.0" encoding="utf-8"?>
<a:theme xmlns:a="http://schemas.openxmlformats.org/drawingml/2006/main" xmlns:r="http://schemas.openxmlformats.org/officeDocument/2006/relationships" xmlns:p="http://schemas.openxmlformats.org/presentationml/2006/main" name="APM Agentico">
  <a:themeElements>
    <a:clrScheme name="APM Agentico">
      <a:dk1>
        <a:srgbClr val="1E2A30"/>
      </a:dk1>
      <a:lt1>
        <a:srgbClr val="FFFFFF"/>
      </a:lt1>
      <a:dk2>
        <a:srgbClr val="0B3C49"/>
      </a:dk2>
      <a:lt2>
        <a:srgbClr val="EEF3F4"/>
      </a:lt2>
      <a:accent1>
        <a:srgbClr val="127C86"/>
      </a:accent1>
      <a:accent2>
        <a:srgbClr val="F2A900"/>
      </a:accent2>
      <a:accent3>
        <a:srgbClr val="5F7480"/>
      </a:accent3>
      <a:accent4>
        <a:srgbClr val="C4533A"/>
      </a:accent4>
      <a:accent5>
        <a:srgbClr val="3F8F6B"/>
      </a:accent5>
      <a:accent6>
        <a:srgbClr val="9CC6CB"/>
      </a:accent6>
      <a:hlink>
        <a:srgbClr val="127C86"/>
      </a:hlink>
      <a:folHlink>
        <a:srgbClr val="5F7480"/>
      </a:folHlink>
    </a:clrScheme>
    <a:fontScheme name="APM Agentico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ONLYOFFICE/10.0.0.169</Application>
  <PresentationFormat>On-screen Show (4:3)</PresentationFormat>
  <Paragraphs>0</Paragraphs>
  <Slides>8</Slides>
  <Notes>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APM con IA agéntica</dc:title>
  <dc:subject>Pitch de la idea: gestión del portafolio de aplicaciones con IA agéntica</dc:subject>
  <dc:creator>Equipo de Arquitectura TI</dc:creator>
  <cp:lastModifiedBy/>
  <cp:revision>2</cp:revision>
  <dcterms:created xsi:type="dcterms:W3CDTF">2026-10-15T22:55:51Z</dcterms:created>
  <dcterms:modified xsi:type="dcterms:W3CDTF">2026-10-15T23:03:24Z</dcterms:modified>
</cp:coreProperties>
</file>